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1" r:id="rId11"/>
    <p:sldId id="264" r:id="rId12"/>
    <p:sldId id="265" r:id="rId13"/>
    <p:sldId id="266" r:id="rId14"/>
    <p:sldId id="267" r:id="rId15"/>
    <p:sldId id="272" r:id="rId16"/>
    <p:sldId id="273" r:id="rId17"/>
    <p:sldId id="269" r:id="rId18"/>
    <p:sldId id="270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文本_2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24000"/>
            <a:ext cx="53340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0" hasCustomPrompt="1"/>
            <p:custDataLst>
              <p:tags r:id="rId4"/>
            </p:custDataLst>
          </p:nvPr>
        </p:nvSpPr>
        <p:spPr>
          <a:xfrm>
            <a:off x="609600" y="2082800"/>
            <a:ext cx="5334000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641600"/>
            <a:ext cx="4724400" cy="3048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48400" y="1524000"/>
            <a:ext cx="53340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248400" y="2082800"/>
            <a:ext cx="5334000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553200" y="2641600"/>
            <a:ext cx="4724400" cy="3048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3.png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{/* 全幅深蓝底色 */}&#10;  &lt;Box style={{ position: 'absolute', top: 0, left: 0, width: '100%', height: '100%', background: '#0E3F8C' }} /&gt;&#10;&#10;  {/* 装饰斜纹 */}&#10;  &lt;Box style={{ position: 'absolute', top: 0, right: 0, width: 480, height: 720, background: 'linear-gradient(135deg, transparent 0%, #1E4FA8 60%, #3D7BD9 100%)', opacity: 0.6 }} /&gt;&#10;&#10;  {/* 顶部细线 */}&#10;  &lt;Box style={{ position: 'absolute', top: 60, left: 80, width: 80, height: 4, background: '#FFC107' }} /&gt;&#10;&#10;  {/* 课程标识 */}&#10;  &lt;Text style={{ position: 'absolute', top: 80, left: 80, fontSize: 18, color: '#A8C0E0', letterSpacing: 4, fontWeight: 'bold' }}&gt;&#10;    企业应用开发实践 · 课程项目&#10;  &lt;/Text&gt;&#10;&#10;  {/* 英文长 title（思源宋） */}&#10;  &lt;Text style={{ position: 'absolute', top: 130, left: 80, fontSize: 26, color: '#7FA8D8', fontFamily: 'Times New Roman', fontStyle: 'italic' }}&gt;&#10;    UAV-Robot Air-Ground Collaborative Inspection Platform&#10;  &lt;/Text&gt;&#10;&#10;  {/* 主标 */}&#10;  &lt;Text style={{ position: 'absolute', top: 220, left: 80, fontSize: 64, color: '#FFFFFF', fontWeight: 'bold', lineHeight: 1.2 }}&gt;&#10;    无人机-机器狗&#10;  &lt;/Text&gt;&#10;  &lt;Text style={{ position: 'absolute', top: 300, left: 80, fontSize: 64, color: '#FFFFFF', fontWeight: 'bold', lineHeight: 1.2 }}&gt;&#10;    空地协同巡检集成平台&#10;  &lt;/Text&gt;&#10;&#10;  {/* 副标 */}&#10;  &lt;Text style={{ position: 'absolute', top: 410, left: 80, fontSize: 22, color: '#A8C0E0', lineHeight: 1.5 }}&gt;&#10;    园区安防空地协同巡检场景 · 分布式中间件 + 存储 + 检索 + 网关的企业级集成实践&#10;  &lt;/Text&gt;&#10;&#10;  {/* 黄色分隔条 */}&#10;  &lt;Box style={{ position: 'absolute', top: 480, left: 80, width: 200, height: 3, background: '#FFC107' }} /&gt;&#10;&#10;  {/* 团队/汇报信息 */}&#10;  &lt;Box style={{ position: 'absolute', top: 510, left: 80, flexDirection: 'column', gap: 12 }}&gt;&#10;    &lt;Text style={{ fontSize: 20, color: '#FFFFFF', fontWeight: 'bold' }}&gt;&#10;      答辩汇报小组 · 6 人团队&#10;    &lt;/Text&gt;&#10;    &lt;Text style={{ fontSize: 16, color: '#A8C0E0', lineHeight: 1.6 }}&gt;&#10;      架构与设计 · 中间件部署运维 · 后端业务 · 仿真与数据 · 前端可视化 · 测试与文档&#10;    &lt;/Text&gt;&#10;  &lt;/Box&gt;&#10;&#10;  {/* 时间与机构 */}&#10;  &lt;Text style={{ position: 'absolute', bottom: 60, left: 80, fontSize: 16, color: '#7FA8D8' }}&gt;&#10;    《企业应用开发实践》 · 2026 · 答辩汇报&#10;  &lt;/Text&gt;&#10;&#10;  {/* 右侧巨型章节标 */}&#10;  &lt;Text style={{ position: 'absolute', top: 200, right: 60, fontSize: 200, color: '#1E4FA8', fontWeight: 'bold', opacity: 0.4, lineHeight: 1 }}&gt;&#10;    ✦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3" name="矩形 2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60000">
                <a:srgbClr val="1E4FA8">
                  <a:alpha val="60000"/>
                </a:srgbClr>
              </a:gs>
              <a:gs pos="100000">
                <a:srgbClr val="3D7BD9">
                  <a:alpha val="60000"/>
                </a:srgbClr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4" name="矩形 3"/>
          <p:cNvSpPr/>
          <p:nvPr/>
        </p:nvSpPr>
        <p:spPr>
          <a:xfrm>
            <a:off x="762000" y="571500"/>
            <a:ext cx="762000" cy="38100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762000" y="762000"/>
            <a:ext cx="28098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3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企业应用开发实践</a:t>
            </a:r>
            <a:r>
              <a:rPr lang="en-US" sz="1350" b="1" spc="3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 b="1" spc="3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课程项目</a:t>
            </a:r>
            <a:endParaRPr lang="zh-CN" sz="1350" b="1" spc="300">
              <a:solidFill>
                <a:srgbClr val="A8C0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762000" y="1238250"/>
            <a:ext cx="5829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i="1">
                <a:solidFill>
                  <a:srgbClr val="7FA8D8"/>
                </a:solidFill>
                <a:latin typeface="Times New Roman" panose="02020603050405020304"/>
                <a:ea typeface="Times New Roman" panose="02020603050405020304"/>
              </a:rPr>
              <a:t>UAV-Robot Air-Ground Collaborative Inspection Platform</a:t>
            </a:r>
            <a:endParaRPr lang="en-US" sz="1950" i="1">
              <a:solidFill>
                <a:srgbClr val="7FA8D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762000" y="2095500"/>
            <a:ext cx="3924300" cy="885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无人机</a:t>
            </a:r>
            <a:r>
              <a:rPr lang="en-US"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机器狗</a:t>
            </a:r>
            <a:endParaRPr lang="zh-CN" sz="4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762000" y="2857500"/>
            <a:ext cx="6096000" cy="885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空地协同巡检集成平台</a:t>
            </a:r>
            <a:endParaRPr lang="zh-CN" sz="4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762000" y="3905250"/>
            <a:ext cx="7724775" cy="381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园区安防空地协同巡检场景</a:t>
            </a:r>
            <a:r>
              <a:rPr lang="en-US" sz="165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65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分布式中间件</a:t>
            </a:r>
            <a:r>
              <a:rPr lang="en-US" sz="165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65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存储</a:t>
            </a:r>
            <a:r>
              <a:rPr lang="en-US" sz="165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65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检索</a:t>
            </a:r>
            <a:r>
              <a:rPr lang="en-US" sz="165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65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网关的企业级集成实践</a:t>
            </a:r>
            <a:endParaRPr lang="zh-CN" sz="1650">
              <a:solidFill>
                <a:srgbClr val="A8C0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62000" y="4572000"/>
            <a:ext cx="1905000" cy="28575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762000" y="4857750"/>
            <a:ext cx="53625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答辩汇报小组</a:t>
            </a: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6 </a:t>
            </a: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人团队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762000" y="5200650"/>
            <a:ext cx="536257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架构与设计</a:t>
            </a:r>
            <a:r>
              <a:rPr lang="en-US" sz="12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中间件部署运维</a:t>
            </a:r>
            <a:r>
              <a:rPr lang="en-US" sz="12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后端业务</a:t>
            </a:r>
            <a:r>
              <a:rPr lang="en-US" sz="12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仿真与数据</a:t>
            </a:r>
            <a:r>
              <a:rPr lang="en-US" sz="12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前端可视化</a:t>
            </a:r>
            <a:r>
              <a:rPr lang="en-US" sz="12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测试与文档</a:t>
            </a:r>
            <a:endParaRPr lang="zh-CN" sz="1200">
              <a:solidFill>
                <a:srgbClr val="A8C0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762000" y="6096000"/>
            <a:ext cx="27527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FA8D8"/>
                </a:solidFill>
                <a:latin typeface="微软雅黑" panose="020B0503020204020204" charset="-122"/>
                <a:ea typeface="微软雅黑" panose="020B0503020204020204" charset="-122"/>
              </a:rPr>
              <a:t>《企业应用开发实践》</a:t>
            </a:r>
            <a:r>
              <a:rPr lang="en-US" sz="1200">
                <a:solidFill>
                  <a:srgbClr val="7FA8D8"/>
                </a:solidFill>
                <a:latin typeface="微软雅黑" panose="020B0503020204020204" charset="-122"/>
                <a:ea typeface="微软雅黑" panose="020B0503020204020204" charset="-122"/>
              </a:rPr>
              <a:t> · 2026 · </a:t>
            </a:r>
            <a:r>
              <a:rPr lang="zh-CN" sz="1200">
                <a:solidFill>
                  <a:srgbClr val="7FA8D8"/>
                </a:solidFill>
                <a:latin typeface="微软雅黑" panose="020B0503020204020204" charset="-122"/>
                <a:ea typeface="微软雅黑" panose="020B0503020204020204" charset="-122"/>
              </a:rPr>
              <a:t>答辩汇报</a:t>
            </a:r>
            <a:endParaRPr lang="zh-CN" sz="1200">
              <a:solidFill>
                <a:srgbClr val="7FA8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9715500" y="1905000"/>
            <a:ext cx="1905000" cy="2286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0" b="1">
                <a:solidFill>
                  <a:srgbClr val="1E4FA8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✦</a:t>
            </a:r>
            <a:endParaRPr sz="15000" b="1">
              <a:solidFill>
                <a:srgbClr val="1E4FA8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5" name="" descr="&lt;Slide&gt;&#10;  {/* 全幅白底 */}&#10;  &lt;Box style={{ position: 'absolute', top: 0, left: 0, width: '100%', height: '100%', background: '#FFFFFF' }} /&gt;&#10;&#10;  {/* 左侧深蓝栏 */}&#10;  &lt;Box style={{ position: 'absolute', top: 0, left: 0, width: 360, height: '100%', background: '#0E3F8C' }} /&gt;&#10;&#10;  {/* 左侧装饰斜纹 */}&#10;  &lt;Box style={{ position: 'absolute', top: 0, left: 0, width: 360, height: 200, background: 'linear-gradient(180deg, #1E4FA8 0%, #0E3F8C 100%)' }} /&gt;&#10;&#10;  {/* 左侧标题 */}&#10;  &lt;Text style={{ position: 'absolute', top: 120, left: 50, fontSize: 60, color: '#FFFFFF', fontWeight: 'bold' }}&gt;&#10;    目录&#10;  &lt;/Text&gt;&#10;  &lt;Text style={{ position: 'absolute', top: 200, left: 50, fontSize: 22, color: '#A8C0E0', letterSpacing: 6 }}&gt;&#10;    CONTENTS&#10;  &lt;/Text&gt;&#10;  &lt;Box style={{ position: 'absolute', top: 260, left: 50, width: 80, height: 3, background: '#FFC107' }} /&gt;&#10;&#10;  {/* 左侧底部信息 */}&#10;  &lt;Text style={{ position: 'absolute', bottom: 80, left: 50, fontSize: 16, color: '#A8C0E0', lineHeight: 1.6 }}&gt;&#10;    无人机-机器狗&#10;    &lt;br /&gt;空地协同巡检集成平台&#10;    &lt;br /&gt;答辩汇报 · 2026&#10;  &lt;/Text&gt;&#10;&#10;  {/* 右侧 5 条目目录 */}&#10;  &lt;Box style={{ position: 'absolute', top: 100, left: 430, width: 770, height: 560, flexDirection: 'column', gap: 22, justifyContent: 'center' }}&gt;&#10;&#10;    {/* 章节 01 */}&#10;    &lt;Box style={{ flexDirection: 'row', alignItems: 'center', gap: 24, padding: '20 24', background: '#F7F9FC', borderRadius: 8, borderLeft: '6px solid #1E4FA8' }}&gt;&#10;      &lt;Text style={{ fontSize: 42, color: '#1E4FA8', fontWeight: 'bold', minWidth: 80 }}&gt;01&lt;/Text&gt;&#10;      &lt;Box style={{ flexDirection: 'column' }}&gt;&#10;        &lt;Text style={{ fontSize: 22, color: '#1A2230', fontWeight: 'bold' }}&gt;项目概述与业务场景&lt;/Text&gt;&#10;        &lt;Text style={{ fontSize: 14, color: '#8B97A8', marginTop: 4 }}&gt;Project Overview &amp; Business Scenario&lt;/Text&gt;&#10;      &lt;/Box&gt;&#10;    &lt;/Box&gt;&#10;&#10;    {/* 章节 02 */}&#10;    &lt;Box style={{ flexDirection: 'row', alignItems: 'center', gap: 24, padding: '20 24', background: '#F7F9FC', borderRadius: 8, borderLeft: '6px solid #1E4FA8' }}&gt;&#10;      &lt;Text style={{ fontSize: 42, color: '#1E4FA8', fontWeight: 'bold', minWidth: 80 }}&gt;02&lt;/Text&gt;&#10;      &lt;Box style={{ flexDirection: 'column' }}&gt;&#10;        &lt;Text style={{ fontSize: 22, color: '#1A2230', fontWeight: 'bold' }}&gt;系统架构与技术选型&lt;/Text&gt;&#10;        &lt;Text style={{ fontSize: 14, color: '#8B97A8', marginTop: 4 }}&gt;System Architecture &amp; Tech Stack&lt;/Text&gt;&#10;      &lt;/Box&gt;&#10;    &lt;/Box&gt;&#10;&#10;    {/* 章节 03 */}&#10;    &lt;Box style={{ flexDirection: 'row', alignItems: 'center', gap: 24, padding: '20 24', background: '#F7F9FC', borderRadius: 8, borderLeft: '6px solid #1E4FA8' }}&gt;&#10;      &lt;Text style={{ fontSize: 42, color: '#1E4FA8', fontWeight: 'bold', minWidth: 80 }}&gt;03&lt;/Text&gt;&#10;      &lt;Box style={{ flexDirection: 'column' }}&gt;&#10;        &lt;Text style={{ fontSize: 22, color: '#1A2230', fontWeight: 'bold' }}&gt;核心实现与数据链路&lt;/Text&gt;&#10;        &lt;Text style={{ fontSize: 14, color: '#8B97A8', marginTop: 4 }}&gt;Core Implementation &amp; Data Pipeline&lt;/Text&gt;&#10;      &lt;/Box&gt;&#10;    &lt;/Box&gt;&#10;&#10;    {/* 章节 04 */}&#10;    &lt;Box style={{ flexDirection: 'row', alignItems: 'center', gap: 24, padding: '20 24', background: '#F7F9FC', borderRadius: 8, borderLeft: '6px solid #1E4FA8' }}&gt;&#10;      &lt;Text style={{ fontSize: 42, color: '#1E4FA8', fontWeight: 'bold', minWidth: 80 }}&gt;04&lt;/Text&gt;&#10;      &lt;Box style={{ flexDirection: 'column' }}&gt;&#10;        &lt;Text style={{ fontSize: 22, color: '#1A2230', fontWeight: 'bold' }}&gt;关键设计与工程亮点&lt;/Text&gt;&#10;        &lt;Text style={{ fontSize: 14, color: '#8B97A8', marginTop: 4 }}&gt;Key Design Decisions &amp; Highlights&lt;/Text&gt;&#10;      &lt;/Box&gt;&#10;    &lt;/Box&gt;&#10;&#10;    {/* 章节 05 */}&#10;    &lt;Box style={{ flexDirection: 'row', alignItems: 'center', gap: 24, padding: '20 24', background: '#F7F9FC', borderRadius: 8, borderLeft: '6px solid #1E4FA8' }}&gt;&#10;      &lt;Text style={{ fontSize: 42, color: '#1E4FA8', fontWeight: 'bold', minWidth: 80 }}&gt;05&lt;/Text&gt;&#10;      &lt;Box style={{ flexDirection: 'column' }}&gt;&#10;        &lt;Text style={{ fontSize: 22, color: '#1A2230', fontWeight: 'bold' }}&gt;团队分工与总结展望&lt;/Text&gt;&#10;        &lt;Text style={{ fontSize: 14, color: '#8B97A8', marginTop: 4 }}&gt;Team Division &amp; Outlook&lt;/Text&gt;&#10;      &lt;/Box&gt;&#10;    &lt;/Box&gt;&#10;&#10;  &lt;/Box&gt;&#10;&#10;  {/* 页脚 */}&#10;  &lt;Text style={{ position: 'absolute', bottom: 30, right: 50, fontSize: 14, color: '#8B97A8' }}&gt;&#10;    02 / 15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矩形 2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37" name="矩形 236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238" name="矩形 237"/>
          <p:cNvSpPr/>
          <p:nvPr/>
        </p:nvSpPr>
        <p:spPr>
          <a:xfrm>
            <a:off x="0" y="0"/>
            <a:ext cx="3429000" cy="1905000"/>
          </a:xfrm>
          <a:prstGeom prst="rect">
            <a:avLst/>
          </a:prstGeom>
          <a:gradFill>
            <a:gsLst>
              <a:gs pos="0">
                <a:srgbClr val="1E4FA8"/>
              </a:gs>
              <a:gs pos="100000">
                <a:srgbClr val="0E3F8C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476250" y="1143000"/>
            <a:ext cx="1143000" cy="685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sz="4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476250" y="1905000"/>
            <a:ext cx="15906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45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en-US" sz="1650" spc="450">
              <a:solidFill>
                <a:srgbClr val="A8C0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1" name="矩形 240"/>
          <p:cNvSpPr/>
          <p:nvPr/>
        </p:nvSpPr>
        <p:spPr>
          <a:xfrm>
            <a:off x="476250" y="2476500"/>
            <a:ext cx="762000" cy="28575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476250" y="5210175"/>
            <a:ext cx="1524000" cy="885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无人机</a:t>
            </a:r>
            <a:r>
              <a:rPr lang="en-US" sz="12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sz="12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机器狗</a:t>
            </a:r>
            <a:endParaRPr lang="zh-CN" sz="1200">
              <a:solidFill>
                <a:srgbClr val="A8C0E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空地协同巡检集成平台</a:t>
            </a:r>
            <a:endParaRPr lang="zh-CN" sz="1200">
              <a:solidFill>
                <a:srgbClr val="A8C0E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答辩汇报</a:t>
            </a:r>
            <a:r>
              <a:rPr lang="en-US" sz="12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 · 2026</a:t>
            </a:r>
            <a:endParaRPr lang="en-US" sz="1200">
              <a:solidFill>
                <a:srgbClr val="A8C0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" name="圆角矩形 242"/>
          <p:cNvSpPr/>
          <p:nvPr/>
        </p:nvSpPr>
        <p:spPr>
          <a:xfrm>
            <a:off x="4152900" y="1038225"/>
            <a:ext cx="7334250" cy="866775"/>
          </a:xfrm>
          <a:prstGeom prst="roundRect">
            <a:avLst>
              <a:gd name="adj" fmla="val 8791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244" name="任意多边形 243"/>
          <p:cNvSpPr/>
          <p:nvPr/>
        </p:nvSpPr>
        <p:spPr>
          <a:xfrm>
            <a:off x="4152900" y="1038225"/>
            <a:ext cx="7334250" cy="866775"/>
          </a:xfrm>
          <a:custGeom>
            <a:avLst/>
            <a:gdLst/>
            <a:ahLst/>
            <a:cxnLst/>
            <a:pathLst>
              <a:path w="770" h="91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89"/>
                </a:lnTo>
                <a:cubicBezTo>
                  <a:pt x="6" y="90"/>
                  <a:pt x="7" y="91"/>
                  <a:pt x="8" y="91"/>
                </a:cubicBezTo>
                <a:cubicBezTo>
                  <a:pt x="3" y="91"/>
                  <a:pt x="0" y="87"/>
                  <a:pt x="0" y="83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4381500" y="1228725"/>
            <a:ext cx="7620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31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5372100" y="1247775"/>
            <a:ext cx="2409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项目概述与业务场景</a:t>
            </a:r>
            <a:endParaRPr lang="zh-CN" sz="16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5372100" y="1543050"/>
            <a:ext cx="24098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Project Overview &amp; Business Scenario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8" name="圆角矩形 247"/>
          <p:cNvSpPr/>
          <p:nvPr/>
        </p:nvSpPr>
        <p:spPr>
          <a:xfrm>
            <a:off x="4152900" y="2114550"/>
            <a:ext cx="7334250" cy="866775"/>
          </a:xfrm>
          <a:prstGeom prst="roundRect">
            <a:avLst>
              <a:gd name="adj" fmla="val 8791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249" name="任意多边形 248"/>
          <p:cNvSpPr/>
          <p:nvPr/>
        </p:nvSpPr>
        <p:spPr>
          <a:xfrm>
            <a:off x="4152900" y="2114550"/>
            <a:ext cx="7334250" cy="866775"/>
          </a:xfrm>
          <a:custGeom>
            <a:avLst/>
            <a:gdLst/>
            <a:ahLst/>
            <a:cxnLst/>
            <a:pathLst>
              <a:path w="770" h="91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89"/>
                </a:lnTo>
                <a:cubicBezTo>
                  <a:pt x="6" y="90"/>
                  <a:pt x="7" y="91"/>
                  <a:pt x="8" y="91"/>
                </a:cubicBezTo>
                <a:cubicBezTo>
                  <a:pt x="3" y="91"/>
                  <a:pt x="0" y="87"/>
                  <a:pt x="0" y="83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4381500" y="2305050"/>
            <a:ext cx="7620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31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5372100" y="2324100"/>
            <a:ext cx="21336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系统架构与技术选型</a:t>
            </a:r>
            <a:endParaRPr lang="zh-CN" sz="16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5372100" y="2619375"/>
            <a:ext cx="2133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System Architecture &amp; Tech Stack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圆角矩形 252"/>
          <p:cNvSpPr/>
          <p:nvPr/>
        </p:nvSpPr>
        <p:spPr>
          <a:xfrm>
            <a:off x="4152900" y="3190875"/>
            <a:ext cx="7334250" cy="866775"/>
          </a:xfrm>
          <a:prstGeom prst="roundRect">
            <a:avLst>
              <a:gd name="adj" fmla="val 8791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254" name="任意多边形 253"/>
          <p:cNvSpPr/>
          <p:nvPr/>
        </p:nvSpPr>
        <p:spPr>
          <a:xfrm>
            <a:off x="4152900" y="3190875"/>
            <a:ext cx="7334250" cy="866775"/>
          </a:xfrm>
          <a:custGeom>
            <a:avLst/>
            <a:gdLst/>
            <a:ahLst/>
            <a:cxnLst/>
            <a:pathLst>
              <a:path w="770" h="91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89"/>
                </a:lnTo>
                <a:cubicBezTo>
                  <a:pt x="6" y="90"/>
                  <a:pt x="7" y="91"/>
                  <a:pt x="8" y="91"/>
                </a:cubicBezTo>
                <a:cubicBezTo>
                  <a:pt x="3" y="91"/>
                  <a:pt x="0" y="87"/>
                  <a:pt x="0" y="83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4381500" y="3381375"/>
            <a:ext cx="7620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31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5372100" y="3400425"/>
            <a:ext cx="2400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核心实现与数据链路</a:t>
            </a:r>
            <a:endParaRPr lang="zh-CN" sz="16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5372100" y="3695700"/>
            <a:ext cx="2400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Core Implementation &amp; Data Pipeline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圆角矩形 257"/>
          <p:cNvSpPr/>
          <p:nvPr/>
        </p:nvSpPr>
        <p:spPr>
          <a:xfrm>
            <a:off x="4152900" y="4267200"/>
            <a:ext cx="7334250" cy="866775"/>
          </a:xfrm>
          <a:prstGeom prst="roundRect">
            <a:avLst>
              <a:gd name="adj" fmla="val 8791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259" name="任意多边形 258"/>
          <p:cNvSpPr/>
          <p:nvPr/>
        </p:nvSpPr>
        <p:spPr>
          <a:xfrm>
            <a:off x="4152900" y="4267200"/>
            <a:ext cx="7334250" cy="866775"/>
          </a:xfrm>
          <a:custGeom>
            <a:avLst/>
            <a:gdLst/>
            <a:ahLst/>
            <a:cxnLst/>
            <a:pathLst>
              <a:path w="770" h="91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89"/>
                </a:lnTo>
                <a:cubicBezTo>
                  <a:pt x="6" y="90"/>
                  <a:pt x="7" y="91"/>
                  <a:pt x="8" y="91"/>
                </a:cubicBezTo>
                <a:cubicBezTo>
                  <a:pt x="3" y="91"/>
                  <a:pt x="0" y="87"/>
                  <a:pt x="0" y="83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4381500" y="4457700"/>
            <a:ext cx="7620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31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5372100" y="4476750"/>
            <a:ext cx="220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关键设计与工程亮点</a:t>
            </a:r>
            <a:endParaRPr lang="zh-CN" sz="16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5372100" y="4772025"/>
            <a:ext cx="2209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Key Design Decisions &amp; Highlights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圆角矩形 262"/>
          <p:cNvSpPr/>
          <p:nvPr/>
        </p:nvSpPr>
        <p:spPr>
          <a:xfrm>
            <a:off x="4152900" y="5343525"/>
            <a:ext cx="7334250" cy="866775"/>
          </a:xfrm>
          <a:prstGeom prst="roundRect">
            <a:avLst>
              <a:gd name="adj" fmla="val 8791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264" name="任意多边形 263"/>
          <p:cNvSpPr/>
          <p:nvPr/>
        </p:nvSpPr>
        <p:spPr>
          <a:xfrm>
            <a:off x="4152900" y="5343525"/>
            <a:ext cx="7334250" cy="866775"/>
          </a:xfrm>
          <a:custGeom>
            <a:avLst/>
            <a:gdLst/>
            <a:ahLst/>
            <a:cxnLst/>
            <a:pathLst>
              <a:path w="770" h="91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89"/>
                </a:lnTo>
                <a:cubicBezTo>
                  <a:pt x="6" y="90"/>
                  <a:pt x="7" y="91"/>
                  <a:pt x="8" y="91"/>
                </a:cubicBezTo>
                <a:cubicBezTo>
                  <a:pt x="3" y="91"/>
                  <a:pt x="0" y="87"/>
                  <a:pt x="0" y="83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4381500" y="5534025"/>
            <a:ext cx="7620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31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5372100" y="5553075"/>
            <a:ext cx="18859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团队分工与总结展望</a:t>
            </a:r>
            <a:endParaRPr lang="zh-CN" sz="16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5372100" y="5848350"/>
            <a:ext cx="1885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Team Division &amp; Outlook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11258550" y="64103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02 / 15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9" name="" descr="&lt;Slide&gt;&#10;  {/* 全幅浅蓝底 */}&#10;  &lt;Box style={{ position: 'absolute', top: 0, left: 0, width: '100%', height: '100%', background: '#F0F5FC' }} /&gt;&#10;&#10;  {/* 左侧深蓝装饰条 */}&#10;  &lt;Box style={{ position: 'absolute', top: 0, left: 0, width: 16, height: '100%', background: '#1E4FA8' }} /&gt;&#10;&#10;  {/* 顶部黄色细线 */}&#10;  &lt;Box style={{ position: 'absolute', top: 180, left: 100, width: 60, height: 4, background: '#FFC107' }} /&gt;&#10;&#10;  {/* 大章节数字 */}&#10;  &lt;Text style={{ position: 'absolute', top: 120, left: 100, fontSize: 220, color: '#1E4FA8', fontWeight: 'bold', lineHeight: 1, fontFamily: 'Times New Roman' }}&gt;&#10;    01&#10;  &lt;/Text&gt;&#10;&#10;  {/* 章节小标 PART */}&#10;  &lt;Text style={{ position: 'absolute', top: 380, left: 100, fontSize: 18, color: '#3D7BD9', letterSpacing: 8, fontWeight: 'bold' }}&gt;&#10;    PART ONE&#10;  &lt;/Text&gt;&#10;&#10;  {/* 章节主标 */}&#10;  &lt;Text style={{ position: 'absolute', top: 410, left: 100, fontSize: 48, color: '#0E3F8C', fontWeight: 'bold' }}&gt;&#10;    项目概述与业务场景&#10;  &lt;/Text&gt;&#10;&#10;  {/* 章节副标 */}&#10;  &lt;Box style={{ position: 'absolute', top: 480, left: 100, flexDirection: 'column', gap: 12 }}&gt;&#10;    &lt;Text style={{ fontSize: 18, color: '#4A5568', lineHeight: 1.6 }}&gt;&#10;      为什么做？ ——  园区安防场景下空地协同巡检的业务闭环&#10;    &lt;/Text&gt;&#10;    &lt;Text style={{ fontSize: 18, color: '#4A5568', lineHeight: 1.6 }}&gt;&#10;      做什么？ ——  无人机高空巡查 + 机器狗地面抵近复核的端到端集成&#10;    &lt;/Text&gt;&#10;  &lt;/Box&gt;&#10;&#10;  {/* 右侧装饰 - 浅蓝大字 &quot;项目&quot; */}&#10;  &lt;Text style={{ position: 'absolute', top: 280, right: 80, fontSize: 220, color: '#1E4FA8', opacity: 0.08, fontWeight: 'bold', lineHeight: 1 }}&gt;&#10;    概&#10;  &lt;/Text&gt;&#10;&#10;  {/* 黄色分割条 */}&#10;  &lt;Box style={{ position: 'absolute', top: 600, left: 100, width: 280, height: 4, background: '#1E4FA8' }} /&gt;&#10;&#10;  {/* 底部导航 */}&#10;  &lt;Text style={{ position: 'absolute', bottom: 30, right: 50, fontSize: 14, color: '#8B97A8' }}&gt;&#10;    03 / 15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26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5FC"/>
          </a:solidFill>
        </p:spPr>
        <p:txBody>
          <a:bodyPr/>
          <a:p/>
        </p:txBody>
      </p:sp>
      <p:sp>
        <p:nvSpPr>
          <p:cNvPr id="271" name="矩形 27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72" name="矩形 271"/>
          <p:cNvSpPr/>
          <p:nvPr/>
        </p:nvSpPr>
        <p:spPr>
          <a:xfrm>
            <a:off x="952500" y="1714500"/>
            <a:ext cx="571500" cy="38100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952500" y="1143000"/>
            <a:ext cx="2095500" cy="2514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01</a:t>
            </a:r>
            <a:endParaRPr lang="en-US" sz="16500" b="1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952500" y="3619500"/>
            <a:ext cx="15144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6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PART ONE</a:t>
            </a:r>
            <a:endParaRPr lang="en-US" sz="1350" b="1" spc="60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952500" y="3905250"/>
            <a:ext cx="41148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项目概述与业务场景</a:t>
            </a:r>
            <a:endParaRPr lang="zh-CN" sz="36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952500" y="4572000"/>
            <a:ext cx="521017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为什么做？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—— 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园区安防场景下空地协同巡检的业务闭环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952500" y="5019675"/>
            <a:ext cx="521017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做什么？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—— 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无人机高空巡查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机器狗地面抵近复核的端到端集成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9334500" y="2667000"/>
            <a:ext cx="2095500" cy="2514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0" b="1">
                <a:solidFill>
                  <a:srgbClr val="1E4FA8">
                    <a:alpha val="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概</a:t>
            </a:r>
            <a:endParaRPr lang="zh-CN" sz="16500" b="1">
              <a:solidFill>
                <a:srgbClr val="1E4FA8">
                  <a:alpha val="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" name="矩形 278"/>
          <p:cNvSpPr/>
          <p:nvPr/>
        </p:nvSpPr>
        <p:spPr>
          <a:xfrm>
            <a:off x="952500" y="5715000"/>
            <a:ext cx="2667000" cy="381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11258550" y="64103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03 / 15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1" name="" descr="&lt;Slide&gt;&#10;  {/* 白底 */}&#10;  &lt;Box style={{ position: 'absolute', top: 0, left: 0, width: '100%', height: '100%', background: '#FFFFFF' }} /&gt;&#10;&#10;  {/* 顶部细深蓝条 */}&#10;  &lt;Box style={{ position: 'absolute', top: 0, left: 0, width: '100%', height: 8, background: '#1E4FA8' }} /&gt;&#10;&#10;  {/* 标题区 */}&#10;  &lt;Text style={{ position: 'absolute', top: 40, left: 60, fontSize: 18, color: '#3D7BD9', letterSpacing: 4, fontWeight: 'bold' }}&gt;&#10;    01 · 项目概述与业务场景&#10;  &lt;/Text&gt;&#10;  &lt;Text style={{ position: 'absolute', top: 70, left: 60, fontSize: 36, color: '#0E3F8C', fontWeight: 'bold' }}&gt;&#10;    业务场景：园区安防空地协同巡检&#10;  &lt;/Text&gt;&#10;  &lt;Box style={{ position: 'absolute', top: 124, left: 60, width: 60, height: 3, background: '#FFC107' }} /&gt;&#10;&#10;  {/* 左大图 - 上下文图 */}&#10;  &lt;Box style={{ position: 'absolute', top: 160, left: 50, width: 700, height: 440, background: '#F7F9FC', borderRadius: 12, padding: 12, border: '1px solid #D6DCE5' }}&gt;&#10;    &lt;Image src=&quot;assets/context.png&quot; style={{ width: '100%', height: '100%', objectFit: 'contain' }} /&gt;&#10;  &lt;/Box&gt;&#10;&#10;  {/* 右侧文字卡 */}&#10;  &lt;Box style={{ position: 'absolute', top: 160, left: 770, width: 460, height: 440, flexDirection: 'column', gap: 16 }}&gt;&#10;&#10;    {/* 业务一句话 */}&#10;    &lt;Box style={{ background: '#0E3F8C', borderRadius: 8, padding: 20 }}&gt;&#10;      &lt;Text style={{ fontSize: 18, color: '#FFC107', fontWeight: 'bold' }}&gt;&#10;        一句话场景&#10;      &lt;/Text&gt;&#10;      &lt;Text style={{ fontSize: 18, color: '#FFFFFF', marginTop: 8, lineHeight: 1.6 }}&gt;&#10;        无人机高空巡逻发现可疑目标 → 数据上报 → 平台任务下发 → 机器狗地面抵近复核 → 闭环处置&#10;      &lt;/Text&gt;&#10;    &lt;/Box&gt;&#10;&#10;    {/* 三方参与 */}&#10;    &lt;Box style={{ background: '#F0F5FC', borderRadius: 8, padding: 20, gap: 12, flexDirection: 'column' }}&gt;&#10;      &lt;Text style={{ fontSize: 16, color: '#1E4FA8', fontWeight: 'bold' }}&gt;三类参与方&lt;/Text&gt;&#10;&#10;      &lt;Box style={{ flexDirection: 'row', alignItems: 'center', gap: 12 }}&gt;&#10;        &lt;Box style={{ width: 8, height: 8, borderRadius: 4, background: '#1E4FA8' }} /&gt;&#10;        &lt;Text style={{ fontSize: 15, color: '#1A2230' }}&gt;设备侧：3 台无人机 + 3 台机器狗仿真&lt;/Text&gt;&#10;      &lt;/Box&gt;&#10;&#10;      &lt;Box style={{ flexDirection: 'row', alignItems: 'center', gap: 12 }}&gt;&#10;        &lt;Box style={{ width: 8, height: 8, borderRadius: 4, background: '#3D7BD9' }} /&gt;&#10;        &lt;Text style={{ fontSize: 15, color: '#1A2230' }}&gt;平台侧：8 容器（中间件 + 业务 + 网关）&lt;/Text&gt;&#10;      &lt;/Box&gt;&#10;&#10;      &lt;Box style={{ flexDirection: 'row', alignItems: 'center', gap: 12 }}&gt;&#10;        &lt;Box style={{ width: 8, height: 8, borderRadius: 4, background: '#FFC107' }} /&gt;&#10;        &lt;Text style={{ fontSize: 15, color: '#1A2230' }}&gt;用户侧：巡检值班员 / 系统管理员 / 运维&lt;/Text&gt;&#10;      &lt;/Box&gt;&#10;    &lt;/Box&gt;&#10;&#10;    {/* 价值锚点 */}&#10;    &lt;Box style={{ background: '#FFFFFF', borderRadius: 8, padding: 18, border: '2px solid #1E4FA8', gap: 6, flexDirection: 'column' }}&gt;&#10;      &lt;Text style={{ fontSize: 14, color: '#1E4FA8', fontWeight: 'bold' }}&gt;★ 业务闭环价值&lt;/Text&gt;&#10;      &lt;Text style={{ fontSize: 14, color: '#1A2230', lineHeight: 1.6 }}&gt;&#10;        高空视野 + 地面精度互补：无人机定位可疑点、机器狗抵近取证据，&#10;        &lt;br /&gt;传统人工巡检需要 2~3 倍时长。&#10;      &lt;/Text&gt;&#10;    &lt;/Box&gt;&#10;&#10;  &lt;/Box&gt;&#10;&#10;  {/* 底部强调条 */}&#10;  &lt;Box style={{ position: 'absolute', bottom: 30, left: 60, right: 60, height: 50, background: '#1E4FA8', borderRadius: 6, padding: '0 24', flexDirection: 'row', alignItems: 'center', justifyContent: 'space-between' }}&gt;&#10;    &lt;Text style={{ fontSize: 16, color: '#FFFFFF', fontWeight: 'bold' }}&gt;&#10;      设备接入  →  数据上报  →  任务下发  →  闭环处置&#10;    &lt;/Text&gt;&#10;    &lt;Text style={{ fontSize: 13, color: '#FFC107' }}&gt;&#10;      UC-01 / UC-12 / UC-13 / UC-14&#10;    &lt;/Text&gt;&#10;  &lt;/Box&gt;&#10;&#10;  {/* 页脚 */}&#10;  &lt;Text style={{ position: 'absolute', bottom: 6, right: 50, fontSize: 12, color: '#8B97A8' }}&gt;&#10;    04 / 15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矩形 2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83" name="矩形 28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571500" y="381000"/>
            <a:ext cx="24669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3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01 · </a:t>
            </a:r>
            <a:r>
              <a:rPr lang="zh-CN" sz="1350" b="1" spc="3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项目概述与业务场景</a:t>
            </a:r>
            <a:endParaRPr lang="zh-CN" sz="1350" b="1" spc="30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571500" y="666750"/>
            <a:ext cx="51435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业务场景：园区安防空地协同巡检</a:t>
            </a:r>
            <a:endParaRPr lang="zh-CN" sz="27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" name="矩形 285"/>
          <p:cNvSpPr/>
          <p:nvPr/>
        </p:nvSpPr>
        <p:spPr>
          <a:xfrm>
            <a:off x="571500" y="1181100"/>
            <a:ext cx="571500" cy="28575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287" name="圆角矩形 286"/>
          <p:cNvSpPr/>
          <p:nvPr/>
        </p:nvSpPr>
        <p:spPr>
          <a:xfrm>
            <a:off x="476250" y="1524000"/>
            <a:ext cx="6667500" cy="4191000"/>
          </a:xfrm>
          <a:prstGeom prst="roundRect">
            <a:avLst>
              <a:gd name="adj" fmla="val 272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89" name="圆角矩形 288"/>
          <p:cNvSpPr/>
          <p:nvPr/>
        </p:nvSpPr>
        <p:spPr>
          <a:xfrm>
            <a:off x="7334250" y="1524000"/>
            <a:ext cx="4381500" cy="1333500"/>
          </a:xfrm>
          <a:prstGeom prst="roundRect">
            <a:avLst>
              <a:gd name="adj" fmla="val 5714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7524750" y="1714500"/>
            <a:ext cx="4000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一句话场景</a:t>
            </a:r>
            <a:endParaRPr lang="zh-CN" sz="1350" b="1">
              <a:solidFill>
                <a:srgbClr val="FFC10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7524750" y="2000250"/>
            <a:ext cx="40005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无人机高空巡逻发现可疑目标</a:t>
            </a:r>
            <a:r>
              <a:rPr 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数据上报</a:t>
            </a:r>
            <a:r>
              <a:rPr 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平台任务下发</a:t>
            </a:r>
            <a:r>
              <a:rPr 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机器狗地面抵近复核</a:t>
            </a:r>
            <a:r>
              <a:rPr 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闭环处置</a:t>
            </a:r>
            <a:endParaRPr lang="zh-CN"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圆角矩形 291"/>
          <p:cNvSpPr/>
          <p:nvPr/>
        </p:nvSpPr>
        <p:spPr>
          <a:xfrm>
            <a:off x="7334250" y="3009900"/>
            <a:ext cx="4381500" cy="1428750"/>
          </a:xfrm>
          <a:prstGeom prst="roundRect">
            <a:avLst>
              <a:gd name="adj" fmla="val 5333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7524750" y="3200400"/>
            <a:ext cx="4000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三类参与方</a:t>
            </a:r>
            <a:endParaRPr lang="zh-CN" sz="12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" name="圆角矩形 293"/>
          <p:cNvSpPr/>
          <p:nvPr/>
        </p:nvSpPr>
        <p:spPr>
          <a:xfrm>
            <a:off x="7524750" y="3552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7715250" y="3505200"/>
            <a:ext cx="24479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设备侧：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台无人机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+ 3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台机器狗仿真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6" name="圆角矩形 295"/>
          <p:cNvSpPr/>
          <p:nvPr/>
        </p:nvSpPr>
        <p:spPr>
          <a:xfrm>
            <a:off x="7524750" y="38385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</p:spPr>
        <p:txBody>
          <a:bodyPr/>
          <a:p/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7715250" y="3790950"/>
            <a:ext cx="26574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平台侧：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容器（中间件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业务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网关）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8" name="圆角矩形 297"/>
          <p:cNvSpPr/>
          <p:nvPr/>
        </p:nvSpPr>
        <p:spPr>
          <a:xfrm>
            <a:off x="7524750" y="41243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C107"/>
          </a:solidFill>
        </p:spPr>
        <p:txBody>
          <a:bodyPr/>
          <a:p/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7715250" y="4076700"/>
            <a:ext cx="2581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用户侧：巡检值班员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系统管理员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运维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" name="圆角矩形 299"/>
          <p:cNvSpPr/>
          <p:nvPr/>
        </p:nvSpPr>
        <p:spPr>
          <a:xfrm>
            <a:off x="7334250" y="4591050"/>
            <a:ext cx="4381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7505700" y="4762500"/>
            <a:ext cx="4038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★ </a:t>
            </a:r>
            <a:r>
              <a:rPr lang="zh-CN"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业务闭环价值</a:t>
            </a:r>
            <a:endParaRPr lang="zh-CN"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7505700" y="4981575"/>
            <a:ext cx="40386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高空视野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地面精度互补：无人机定位可疑点、机器狗抵近取证据，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传统人工巡检需要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2~3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倍时长。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" name="圆角矩形 302"/>
          <p:cNvSpPr/>
          <p:nvPr/>
        </p:nvSpPr>
        <p:spPr>
          <a:xfrm>
            <a:off x="571500" y="6096000"/>
            <a:ext cx="11049000" cy="476250"/>
          </a:xfrm>
          <a:prstGeom prst="roundRect">
            <a:avLst>
              <a:gd name="adj" fmla="val 120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800100" y="6238875"/>
            <a:ext cx="34480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设备接入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→  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数据上报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→  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任务下发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→  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闭环处置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9515475" y="6257925"/>
            <a:ext cx="1876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UC-01 / UC-12 / UC-13 / UC-14</a:t>
            </a:r>
            <a:endParaRPr lang="en-US" sz="975">
              <a:solidFill>
                <a:srgbClr val="FFC10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11325225" y="6657975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04 / 15</a:t>
            </a:r>
            <a:endParaRPr lang="en-US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8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15" y="1391285"/>
            <a:ext cx="6909435" cy="4706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7" name="" descr="&lt;Slide&gt;&#10;  {/* 全幅浅蓝底 */}&#10;  &lt;Box style={{ position: 'absolute', top: 0, left: 0, width: '100%', height: '100%', background: '#F0F5FC' }} /&gt;&#10;&#10;  {/* 左侧深蓝装饰条 */}&#10;  &lt;Box style={{ position: 'absolute', top: 0, left: 0, width: 16, height: '100%', background: '#1E4FA8' }} /&gt;&#10;&#10;  {/* 顶部黄色细线 */}&#10;  &lt;Box style={{ position: 'absolute', top: 180, left: 100, width: 60, height: 4, background: '#FFC107' }} /&gt;&#10;&#10;  {/* 大章节数字 */}&#10;  &lt;Text style={{ position: 'absolute', top: 120, left: 100, fontSize: 220, color: '#1E4FA8', fontWeight: 'bold', lineHeight: 1, fontFamily: 'Times New Roman' }}&gt;&#10;    02&#10;  &lt;/Text&gt;&#10;&#10;  {/* 章节小标 */}&#10;  &lt;Text style={{ position: 'absolute', top: 380, left: 100, fontSize: 18, color: '#3D7BD9', letterSpacing: 8, fontWeight: 'bold' }}&gt;&#10;    PART TWO&#10;  &lt;/Text&gt;&#10;&#10;  {/* 章节主标 */}&#10;  &lt;Text style={{ position: 'absolute', top: 410, left: 100, fontSize: 48, color: '#0E3F8C', fontWeight: 'bold' }}&gt;&#10;    系统架构与技术选型&#10;  &lt;/Text&gt;&#10;&#10;  {/* 章节副标 */}&#10;  &lt;Box style={{ position: 'absolute', top: 480, left: 100, flexDirection: 'column', gap: 12 }}&gt;&#10;    &lt;Text style={{ fontSize: 18, color: '#4A5568', lineHeight: 1.6 }}&gt;&#10;      部署视图 ——  设备侧独立运行、平台侧 8 容器编排&#10;    &lt;/Text&gt;&#10;    &lt;Text style={{ fontSize: 18, color: '#4A5568', lineHeight: 1.6 }}&gt;&#10;      技术栈 ——  Kafka · MongoDB · HDFS · Elasticsearch · Nginx 五类组件&#10;    &lt;/Text&gt;&#10;  &lt;/Box&gt;&#10;&#10;  {/* 右侧装饰 - 浅蓝大字 &quot;架构&quot; */}&#10;  &lt;Text style={{ position: 'absolute', top: 280, right: 80, fontSize: 220, color: '#1E4FA8', opacity: 0.08, fontWeight: 'bold', lineHeight: 1 }}&gt;&#10;    架&#10;  &lt;/Text&gt;&#10;&#10;  {/* 蓝色分割条 */}&#10;  &lt;Box style={{ position: 'absolute', top: 600, left: 100, width: 280, height: 4, background: '#1E4FA8' }} /&gt;&#10;&#10;  {/* 页脚 */}&#10;  &lt;Text style={{ position: 'absolute', bottom: 30, right: 50, fontSize: 14, color: '#8B97A8' }}&gt;&#10;    05 / 15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矩形 30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5FC"/>
          </a:solidFill>
        </p:spPr>
        <p:txBody>
          <a:bodyPr/>
          <a:p/>
        </p:txBody>
      </p:sp>
      <p:sp>
        <p:nvSpPr>
          <p:cNvPr id="309" name="矩形 308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310" name="矩形 309"/>
          <p:cNvSpPr/>
          <p:nvPr/>
        </p:nvSpPr>
        <p:spPr>
          <a:xfrm>
            <a:off x="952500" y="1714500"/>
            <a:ext cx="571500" cy="38100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952500" y="1143000"/>
            <a:ext cx="2095500" cy="2514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02</a:t>
            </a:r>
            <a:endParaRPr lang="en-US" sz="16500" b="1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952500" y="3619500"/>
            <a:ext cx="1562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6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PART TWO</a:t>
            </a:r>
            <a:endParaRPr lang="en-US" sz="1350" b="1" spc="60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952500" y="3905250"/>
            <a:ext cx="41148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系统架构与技术选型</a:t>
            </a:r>
            <a:endParaRPr lang="zh-CN" sz="36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952500" y="4572000"/>
            <a:ext cx="561022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部署视图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—— 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设备侧独立运行、平台侧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容器编排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" name="文本框 314" descr="{&quot;isTemplate&quot;:true,&quot;type&quot;:&quot;text&quot;}"/>
          <p:cNvSpPr txBox="1"/>
          <p:nvPr/>
        </p:nvSpPr>
        <p:spPr>
          <a:xfrm>
            <a:off x="952500" y="5019675"/>
            <a:ext cx="561022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技术栈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——  Kafka · MongoDB · HDFS · Elasticsearch · Nginx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五类组件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9334500" y="2667000"/>
            <a:ext cx="2095500" cy="2514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0" b="1">
                <a:solidFill>
                  <a:srgbClr val="1E4FA8">
                    <a:alpha val="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架</a:t>
            </a:r>
            <a:endParaRPr lang="zh-CN" sz="16500" b="1">
              <a:solidFill>
                <a:srgbClr val="1E4FA8">
                  <a:alpha val="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" name="矩形 316"/>
          <p:cNvSpPr/>
          <p:nvPr/>
        </p:nvSpPr>
        <p:spPr>
          <a:xfrm>
            <a:off x="952500" y="5715000"/>
            <a:ext cx="2667000" cy="381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11258550" y="64103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05 / 15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9" name="" descr="&lt;Slide&gt;&#10;  {/* 白底 */}&#10;  &lt;Box style={{ position: 'absolute', top: 0, left: 0, width: '100%', height: '100%', background: '#FFFFFF' }} /&gt;&#10;&#10;  {/* 顶部细深蓝条 */}&#10;  &lt;Box style={{ position: 'absolute', top: 0, left: 0, width: '100%', height: 8, background: '#1E4FA8' }} /&gt;&#10;&#10;  {/* 标题区 */}&#10;  &lt;Text style={{ position: 'absolute', top: 30, left: 60, fontSize: 18, color: '#3D7BD9', letterSpacing: 4, fontWeight: 'bold' }}&gt;&#10;    02 · 系统架构与技术选型&#10;  &lt;/Text&gt;&#10;  &lt;Text style={{ position: 'absolute', top: 58, left: 60, fontSize: 36, color: '#0E3F8C', fontWeight: 'bold' }}&gt;&#10;    系统总体架构（部署视图）&#10;  &lt;/Text&gt;&#10;  &lt;Box style={{ position: 'absolute', top: 112, left: 60, width: 60, height: 3, background: '#FFC107' }} /&gt;&#10;&#10;  {/* 全幅部署图 */}&#10;  &lt;Box style={{ position: 'absolute', top: 140, left: 50, width: 1180, height: 480, background: '#F7F9FC', borderRadius: 12, padding: 16, border: '1px solid #D6DCE5' }}&gt;&#10;    &lt;Image src=&quot;assets/deployment.png&quot; style={{ width: '100%', height: '100%', objectFit: 'contain' }} /&gt;&#10;  &lt;/Box&gt;&#10;&#10;  {/* 底部要点注解 */}&#10;  &lt;Box style={{ position: 'absolute', bottom: 30, left: 60, right: 60, height: 50, background: '#0E3F8C', borderRadius: 6, padding: '0 24', flexDirection: 'row', alignItems: 'center', gap: 30 }}&gt;&#10;    &lt;Box style={{ flexDirection: 'row', alignItems: 'center', gap: 8 }}&gt;&#10;      &lt;Box style={{ width: 8, height: 8, borderRadius: 4, background: '#FFC107' }} /&gt;&#10;      &lt;Text style={{ fontSize: 14, color: '#FFFFFF' }}&gt;设备侧独立运行&lt;/Text&gt;&#10;    &lt;/Box&gt;&#10;    &lt;Text style={{ fontSize: 13, color: '#A8C0E0' }}&gt;代表外部真实设备，断网不影响平台演示&lt;/Text&gt;&#10;&#10;    &lt;Box style={{ width: 1, height: 30, background: '#3D7BD9' }} /&gt;&#10;&#10;    &lt;Box style={{ flexDirection: 'row', alignItems: 'center', gap: 8 }}&gt;&#10;      &lt;Box style={{ width: 8, height: 8, borderRadius: 4, background: '#FFC107' }} /&gt;&#10;      &lt;Text style={{ fontSize: 14, color: '#FFFFFF' }}&gt;平台侧 8 容器&lt;/Text&gt;&#10;    &lt;/Box&gt;&#10;    &lt;Text style={{ fontSize: 13, color: '#A8C0E0' }}&gt;1 条 docker compose 命令启动全部&lt;/Text&gt;&#10;&#10;    &lt;Box style={{ width: 1, height: 30, background: '#3D7BD9' }} /&gt;&#10;&#10;    &lt;Box style={{ flexDirection: 'row', alignItems: 'center', gap: 8 }}&gt;&#10;      &lt;Box style={{ width: 8, height: 8, borderRadius: 4, background: '#FFC107' }} /&gt;&#10;      &lt;Text style={{ fontSize: 14, color: '#FFFFFF' }}&gt;Kafka 双 listener&lt;/Text&gt;&#10;    &lt;/Box&gt;&#10;    &lt;Text style={{ fontSize: 13, color: '#A8C0E0' }}&gt;同时适配容器内外寻址&lt;/Text&gt;&#10;  &lt;/Box&gt;&#10;&#10;  {/* 页脚 */}&#10;  &lt;Text style={{ position: 'absolute', bottom: 6, right: 50, fontSize: 12, color: '#8B97A8' }}&gt;&#10;    06 / 15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矩形 3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21" name="矩形 32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571500" y="285750"/>
            <a:ext cx="24669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3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02 · </a:t>
            </a:r>
            <a:r>
              <a:rPr lang="zh-CN" sz="1350" b="1" spc="3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系统架构与技术选型</a:t>
            </a:r>
            <a:endParaRPr lang="zh-CN" sz="1350" b="1" spc="30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571500" y="552450"/>
            <a:ext cx="41148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系统总体架构</a:t>
            </a:r>
            <a:endParaRPr lang="zh-CN" sz="27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4" name="矩形 323"/>
          <p:cNvSpPr/>
          <p:nvPr/>
        </p:nvSpPr>
        <p:spPr>
          <a:xfrm>
            <a:off x="571500" y="1066800"/>
            <a:ext cx="571500" cy="28575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325" name="圆角矩形 324"/>
          <p:cNvSpPr/>
          <p:nvPr/>
        </p:nvSpPr>
        <p:spPr>
          <a:xfrm>
            <a:off x="476250" y="1333500"/>
            <a:ext cx="11239500" cy="4572000"/>
          </a:xfrm>
          <a:prstGeom prst="roundRect">
            <a:avLst>
              <a:gd name="adj" fmla="val 25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7" name="圆角矩形 326"/>
          <p:cNvSpPr/>
          <p:nvPr/>
        </p:nvSpPr>
        <p:spPr>
          <a:xfrm>
            <a:off x="571500" y="6096000"/>
            <a:ext cx="11049000" cy="476250"/>
          </a:xfrm>
          <a:prstGeom prst="roundRect">
            <a:avLst>
              <a:gd name="adj" fmla="val 12000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328" name="圆角矩形 327"/>
          <p:cNvSpPr/>
          <p:nvPr/>
        </p:nvSpPr>
        <p:spPr>
          <a:xfrm>
            <a:off x="800100" y="63055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C107"/>
          </a:solidFill>
        </p:spPr>
        <p:txBody>
          <a:bodyPr/>
          <a:p/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952500" y="6257925"/>
            <a:ext cx="914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设备侧独立运行</a:t>
            </a:r>
            <a:endParaRPr 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0" name="文本框 329" descr="{&quot;isTemplate&quot;:true,&quot;type&quot;:&quot;text&quot;}"/>
          <p:cNvSpPr txBox="1"/>
          <p:nvPr/>
        </p:nvSpPr>
        <p:spPr>
          <a:xfrm>
            <a:off x="2152650" y="6257925"/>
            <a:ext cx="21717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代表外部真实设备，断网不影响平台演示</a:t>
            </a:r>
            <a:endParaRPr lang="zh-CN" sz="975">
              <a:solidFill>
                <a:srgbClr val="A8C0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1" name="矩形 330"/>
          <p:cNvSpPr/>
          <p:nvPr/>
        </p:nvSpPr>
        <p:spPr>
          <a:xfrm>
            <a:off x="4610100" y="6191250"/>
            <a:ext cx="9525" cy="28575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332" name="圆角矩形 331"/>
          <p:cNvSpPr/>
          <p:nvPr/>
        </p:nvSpPr>
        <p:spPr>
          <a:xfrm>
            <a:off x="4905375" y="63055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C107"/>
          </a:solidFill>
        </p:spPr>
        <p:txBody>
          <a:bodyPr/>
          <a:p/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5057775" y="6257925"/>
            <a:ext cx="809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平台侧</a:t>
            </a:r>
            <a:r>
              <a:rPr 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容器</a:t>
            </a:r>
            <a:endParaRPr 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6153150" y="6257925"/>
            <a:ext cx="2000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sz="975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条</a:t>
            </a:r>
            <a:r>
              <a:rPr lang="en-US" sz="975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 docker compose </a:t>
            </a:r>
            <a:r>
              <a:rPr lang="zh-CN" sz="975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命令启动全部</a:t>
            </a:r>
            <a:endParaRPr lang="zh-CN" sz="975">
              <a:solidFill>
                <a:srgbClr val="A8C0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5" name="矩形 334"/>
          <p:cNvSpPr/>
          <p:nvPr/>
        </p:nvSpPr>
        <p:spPr>
          <a:xfrm>
            <a:off x="8439150" y="6191250"/>
            <a:ext cx="9525" cy="28575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336" name="圆角矩形 335"/>
          <p:cNvSpPr/>
          <p:nvPr/>
        </p:nvSpPr>
        <p:spPr>
          <a:xfrm>
            <a:off x="8734425" y="63055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C107"/>
          </a:solidFill>
        </p:spPr>
        <p:txBody>
          <a:bodyPr/>
          <a:p/>
        </p:txBody>
      </p:sp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8886825" y="6257925"/>
            <a:ext cx="10096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Kafka </a:t>
            </a: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双</a:t>
            </a:r>
            <a:r>
              <a:rPr 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listener</a:t>
            </a:r>
            <a:endParaRPr lang="en-US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10182225" y="6257925"/>
            <a:ext cx="12096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同时适配容器内外寻址</a:t>
            </a:r>
            <a:endParaRPr lang="zh-CN" sz="975">
              <a:solidFill>
                <a:srgbClr val="A8C0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11325225" y="6657975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06 / 15</a:t>
            </a:r>
            <a:endParaRPr lang="en-US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" name="图片 0" descr="分层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1346200"/>
            <a:ext cx="9877425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0" name="" descr="&lt;Slide&gt;&#10;  {/* 白底 */}&#10;  &lt;Box style={{ position: 'absolute', top: 0, left: 0, width: '100%', height: '100%', background: '#FFFFFF' }} /&gt;&#10;&#10;  {/* 顶部细深蓝条 */}&#10;  &lt;Box style={{ position: 'absolute', top: 0, left: 0, width: '100%', height: 8, background: '#1E4FA8' }} /&gt;&#10;&#10;  {/* 标题区 */}&#10;  &lt;Text style={{ position: 'absolute', top: 30, left: 60, fontSize: 18, color: '#3D7BD9', letterSpacing: 4, fontWeight: 'bold' }}&gt;&#10;    02 · 系统架构与技术选型&#10;  &lt;/Text&gt;&#10;  &lt;Text style={{ position: 'absolute', top: 58, left: 60, fontSize: 36, color: '#0E3F8C', fontWeight: 'bold' }}&gt;&#10;    技术栈：分布式中间件 + 检索 + 网关&#10;  &lt;/Text&gt;&#10;  &lt;Box style={{ position: 'absolute', top: 112, left: 60, width: 60, height: 3, background: '#FFC107' }} /&gt;&#10;&#10;  {/* 5 张并列卡 */}&#10;  &lt;Box style={{ position: 'absolute', top: 150, left: 40, width: 1200, height: 460, flexDirection: 'row', gap: 16 }}&gt;&#10;&#10;    {/* 卡 1 Kafka */}&#10;    &lt;Box style={{ flex: 1, background: '#FFFFFF', borderRadius: 10, padding: 20, border: '1px solid #D6DCE5', flexDirection: 'column' }}&gt;&#10;      &lt;Box style={{ width: 48, height: 48, borderRadius: 24, background: '#0E3F8C', alignItems: 'center', justifyContent: 'center', marginBottom: 16 }}&gt;&#10;        &lt;Text style={{ fontSize: 22, color: '#FFFFFF', fontWeight: 'bold' }}&gt;K&lt;/Text&gt;&#10;      &lt;/Box&gt;&#10;      &lt;Text style={{ fontSize: 22, color: '#0E3F8C', fontWeight: 'bold' }}&gt;Kafka&lt;/Text&gt;&#10;      &lt;Text style={{ fontSize: 12, color: '#8B97A8', marginTop: 4 }}&gt;4.3.1 · KRaft 模式&lt;/Text&gt;&#10;      &lt;Box style={{ width: 32, height: 2, background: '#FFC107', marginTop: 12, marginBottom: 12 }} /&gt;&#10;      &lt;Text style={{ fontSize: 14, color: '#1A2230', lineHeight: 1.5, fontWeight: 'bold' }}&gt;消息中间件&lt;/Text&gt;&#10;      &lt;Text style={{ fontSize: 13, color: '#4A5568', lineHeight: 1.6, marginTop: 8 }}&gt;&#10;        7 个 topic 解耦设备与业务；双 listener 同时适配容器内外寻址；高吞吐流式场景契合。&#10;      &lt;/Text&gt;&#10;    &lt;/Box&gt;&#10;&#10;    {/* 卡 2 MongoDB */}&#10;    &lt;Box style={{ flex: 1, background: '#FFFFFF', borderRadius: 10, padding: 20, border: '1px solid #D6DCE5', flexDirection: 'column' }}&gt;&#10;      &lt;Box style={{ width: 48, height: 48, borderRadius: 24, background: '#1E4FA8', alignItems: 'center', justifyContent: 'center', marginBottom: 16 }}&gt;&#10;        &lt;Text style={{ fontSize: 22, color: '#FFFFFF', fontWeight: 'bold' }}&gt;M&lt;/Text&gt;&#10;      &lt;/Box&gt;&#10;      &lt;Text style={{ fontSize: 22, color: '#0E3F8C', fontWeight: 'bold' }}&gt;MongoDB&lt;/Text&gt;&#10;      &lt;Text style={{ fontSize: 12, color: '#8B97A8', marginTop: 4 }}&gt;8.3.9 · 含时序集合&lt;/Text&gt;&#10;      &lt;Box style={{ width: 32, height: 2, background: '#FFC107', marginTop: 12, marginBottom: 12 }} /&gt;&#10;      &lt;Text style={{ fontSize: 14, color: '#1A2230', lineHeight: 1.5, fontWeight: 'bold' }}&gt;明细 / 状态 / 权威源&lt;/Text&gt;&#10;      &lt;Text style={{ fontSize: 13, color: '#4A5568', lineHeight: 1.6, marginTop: 8 }}&gt;&#10;        动态 Criteria 支持多条件任意组合、服务端分页；时序集合 + TTL 自动过期。&#10;      &lt;/Text&gt;&#10;    &lt;/Box&gt;&#10;&#10;    {/* 卡 3 HDFS */}&#10;    &lt;Box style={{ flex: 1, background: '#FFFFFF', borderRadius: 10, padding: 20, border: '1px solid #D6DCE5', flexDirection: 'column' }}&gt;&#10;      &lt;Box style={{ width: 48, height: 48, borderRadius: 24, background: '#0E3F8C', alignItems: 'center', justifyContent: 'center', marginBottom: 16 }}&gt;&#10;        &lt;Text style={{ fontSize: 22, color: '#FFFFFF', fontWeight: 'bold' }}&gt;H&lt;/Text&gt;&#10;      &lt;/Box&gt;&#10;      &lt;Text style={{ fontSize: 22, color: '#0E3F8C', fontWeight: 'bold' }}&gt;HDFS&lt;/Text&gt;&#10;      &lt;Text style={{ fontSize: 12, color: '#8B97A8', marginTop: 4 }}&gt;3.2.1 · NN+DN&lt;/Text&gt;&#10;      &lt;Box style={{ width: 32, height: 2, background: '#FFC107', marginTop: 12, marginBottom: 12 }} /&gt;&#10;      &lt;Text style={{ fontSize: 14, color: '#1A2230', lineHeight: 1.5, fontWeight: 'bold' }}&gt;巡检影像存储&lt;/Text&gt;&#10;      &lt;Text style={{ fontSize: 13, color: '#4A5568', lineHeight: 1.6, marginTop: 8 }}&gt;&#10;        WebHDFS 读写；设备直传避免大文件压垮 MQ；元数据走 MongoDB、用 fileId 关联。&#10;      &lt;/Text&gt;&#10;    &lt;/Box&gt;&#10;&#10;    {/* 卡 4 ES */}&#10;    &lt;Box style={{ flex: 1, background: '#FFFFFF', borderRadius: 10, padding: 20, border: '1px solid #D6DCE5', flexDirection: 'column' }}&gt;&#10;      &lt;Box style={{ width: 48, height: 48, borderRadius: 24, background: '#1E4FA8', alignItems: 'center', justifyContent: 'center', marginBottom: 16 }}&gt;&#10;        &lt;Text style={{ fontSize: 22, color: '#FFFFFF', fontWeight: 'bold' }}&gt;E&lt;/Text&gt;&#10;      &lt;/Box&gt;&#10;      &lt;Text style={{ fontSize: 22, color: '#0E3F8C', fontWeight: 'bold' }}&gt;Elasticsearch&lt;/Text&gt;&#10;      &lt;Text style={{ fontSize: 12, color: '#8B97A8', marginTop: 4 }}&gt;9.5.3 · Kibana 9.x&lt;/Text&gt;&#10;      &lt;Box style={{ width: 32, height: 2, background: '#FFC107', marginTop: 12, marginBottom: 12 }} /&gt;&#10;      &lt;Text style={{ fontSize: 14, color: '#1A2230', lineHeight: 1.5, fontWeight: 'bold' }}&gt;检索 + 聚合分析&lt;/Text&gt;&#10;      &lt;Text style={{ fontSize: 13, color: '#4A5568', lineHeight: 1.6, marginTop: 8 }}&gt;&#10;        告警双写副本；terms / date_histogram 聚合统计；可随时 reindex 重建。&#10;      &lt;/Text&gt;&#10;    &lt;/Box&gt;&#10;&#10;    {/* 卡 5 Nginx */}&#10;    &lt;Box style={{ flex: 1, background: '#FFFFFF', borderRadius: 10, padding: 20, border: '1px solid #D6DCE5', flexDirection: 'column' }}&gt;&#10;      &lt;Box style={{ width: 48, height: 48, borderRadius: 24, background: '#0E3F8C', alignItems: 'center', justifyContent: 'center', marginBottom: 16 }}&gt;&#10;        &lt;Text style={{ fontSize: 22, color: '#FFFFFF', fontWeight: 'bold' }}&gt;N&lt;/Text&gt;&#10;      &lt;/Box&gt;&#10;      &lt;Text style={{ fontSize: 22, color: '#0E3F8C', fontWeight: 'bold' }}&gt;Nginx&lt;/Text&gt;&#10;      &lt;Text style={{ fontSize: 12, color: '#8B97A8', marginTop: 4 }}&gt;1.30 · 含 upstream&lt;/Text&gt;&#10;      &lt;Box style={{ width: 32, height: 2, background: '#FFC107', marginTop: 12, marginBottom: 12 }} /&gt;&#10;      &lt;Text style={{ fontSize: 14, color: '#1A2230', lineHeight: 1.5, fontWeight: 'bold' }}&gt;统一入口 + 负载均衡&lt;/Text&gt;&#10;      &lt;Text style={{ fontSize: 13, color: '#4A5568', lineHeight: 1.6, marginTop: 8 }}&gt;&#10;        静态资源 + /api 反代；2 实例轮询；JWT 无状态使水平扩展成为可能。&#10;      &lt;/Text&gt;&#10;    &lt;/Box&gt;&#10;&#10;  &lt;/Box&gt;&#10;&#10;  {/* 底部结论条 */}&#10;  &lt;Box style={{ position: 'absolute', bottom: 25, left: 60, right: 60, height: 36, background: '#F0F5FC', borderRadius: 4, padding: '0 20', flexDirection: 'row', alignItems: 'center', justifyContent: 'space-between' }}&gt;&#10;    &lt;Text style={{ fontSize: 13, color: '#1A2230' }}&gt;&#10;      &lt;span style={{ fontWeight: 'bold', color: '#0E3F8C' }}&gt;★ 选型理由&lt;/span&gt;  ·  同属 Apache 大数据生态；契合高吞吐流式场景；持久化与分区内有序满足&quot;上报不丢、指令按序&quot;&#10;    &lt;/Text&gt;&#10;    &lt;Text style={{ fontSize: 12, color: '#8B97A8' }}&gt;详见 需求分析与总体架构技术选型.md&lt;/Text&gt;&#10;  &lt;/Box&gt;&#10;&#10;  {/* 页脚 */}&#10;  &lt;Text style={{ position: 'absolute', bottom: 6, right: 50, fontSize: 12, color: '#8B97A8' }}&gt;&#10;    07 / 15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矩形 3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42" name="矩形 34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571500" y="285750"/>
            <a:ext cx="24669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3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02 · </a:t>
            </a:r>
            <a:r>
              <a:rPr lang="zh-CN" sz="1350" b="1" spc="3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系统架构与技术选型</a:t>
            </a:r>
            <a:endParaRPr lang="zh-CN" sz="1350" b="1" spc="30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571500" y="552450"/>
            <a:ext cx="57340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技术栈：分布式中间件</a:t>
            </a:r>
            <a:r>
              <a:rPr lang="en-US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检索</a:t>
            </a:r>
            <a:r>
              <a:rPr lang="en-US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网关</a:t>
            </a:r>
            <a:endParaRPr lang="zh-CN" sz="27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5" name="矩形 344"/>
          <p:cNvSpPr/>
          <p:nvPr/>
        </p:nvSpPr>
        <p:spPr>
          <a:xfrm>
            <a:off x="571500" y="1066800"/>
            <a:ext cx="571500" cy="28575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346" name="圆角矩形 345"/>
          <p:cNvSpPr/>
          <p:nvPr/>
        </p:nvSpPr>
        <p:spPr>
          <a:xfrm>
            <a:off x="381000" y="1428750"/>
            <a:ext cx="2162175" cy="4381500"/>
          </a:xfrm>
          <a:prstGeom prst="roundRect">
            <a:avLst>
              <a:gd name="adj" fmla="val 440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7" name="圆角矩形 346"/>
          <p:cNvSpPr/>
          <p:nvPr/>
        </p:nvSpPr>
        <p:spPr>
          <a:xfrm>
            <a:off x="571500" y="16192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723900" y="1724025"/>
            <a:ext cx="152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K</a:t>
            </a:r>
            <a:endParaRPr 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571500" y="2228850"/>
            <a:ext cx="17811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Kafka</a:t>
            </a:r>
            <a:endParaRPr lang="en-US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571500" y="2524125"/>
            <a:ext cx="17811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4.3.1 · KRaft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模式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矩形 350"/>
          <p:cNvSpPr/>
          <p:nvPr/>
        </p:nvSpPr>
        <p:spPr>
          <a:xfrm>
            <a:off x="571500" y="2781300"/>
            <a:ext cx="304800" cy="19050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571500" y="2914650"/>
            <a:ext cx="17811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消息中间件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571500" y="3238500"/>
            <a:ext cx="1781175" cy="714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7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topic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解耦设备与业务；双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listener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同时适配容器内外寻址；高吞吐流式场景契合。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4" name="圆角矩形 353"/>
          <p:cNvSpPr/>
          <p:nvPr/>
        </p:nvSpPr>
        <p:spPr>
          <a:xfrm>
            <a:off x="2695575" y="1428750"/>
            <a:ext cx="2162175" cy="4381500"/>
          </a:xfrm>
          <a:prstGeom prst="roundRect">
            <a:avLst>
              <a:gd name="adj" fmla="val 440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55" name="圆角矩形 354"/>
          <p:cNvSpPr/>
          <p:nvPr/>
        </p:nvSpPr>
        <p:spPr>
          <a:xfrm>
            <a:off x="2886075" y="16192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3009900" y="1724025"/>
            <a:ext cx="2190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</a:t>
            </a:r>
            <a:endParaRPr 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2886075" y="2228850"/>
            <a:ext cx="17811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MongoDB</a:t>
            </a:r>
            <a:endParaRPr lang="en-US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2886075" y="2524125"/>
            <a:ext cx="17811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8.3.9 ·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含时序集合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9" name="矩形 358"/>
          <p:cNvSpPr/>
          <p:nvPr/>
        </p:nvSpPr>
        <p:spPr>
          <a:xfrm>
            <a:off x="2886075" y="2781300"/>
            <a:ext cx="304800" cy="19050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2886075" y="2914650"/>
            <a:ext cx="17811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明细</a:t>
            </a: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状态</a:t>
            </a: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权威源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2886075" y="3238500"/>
            <a:ext cx="1781175" cy="714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动态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Criteria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支持多条件任意组合、服务端分页；时序集合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TTL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自动过期。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2" name="圆角矩形 361"/>
          <p:cNvSpPr/>
          <p:nvPr/>
        </p:nvSpPr>
        <p:spPr>
          <a:xfrm>
            <a:off x="5010150" y="1428750"/>
            <a:ext cx="2171700" cy="43815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63" name="圆角矩形 362"/>
          <p:cNvSpPr/>
          <p:nvPr/>
        </p:nvSpPr>
        <p:spPr>
          <a:xfrm>
            <a:off x="5200650" y="16192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5343525" y="1724025"/>
            <a:ext cx="180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H</a:t>
            </a:r>
            <a:endParaRPr 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5200650" y="2228850"/>
            <a:ext cx="17907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HDFS</a:t>
            </a:r>
            <a:endParaRPr lang="en-US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6" name="文本框 365" descr="{&quot;isTemplate&quot;:true,&quot;type&quot;:&quot;text&quot;}"/>
          <p:cNvSpPr txBox="1"/>
          <p:nvPr/>
        </p:nvSpPr>
        <p:spPr>
          <a:xfrm>
            <a:off x="5200650" y="2524125"/>
            <a:ext cx="1790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3.2.1 · NN+DN</a:t>
            </a:r>
            <a:endParaRPr lang="en-US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7" name="矩形 366"/>
          <p:cNvSpPr/>
          <p:nvPr/>
        </p:nvSpPr>
        <p:spPr>
          <a:xfrm>
            <a:off x="5200650" y="2781300"/>
            <a:ext cx="304800" cy="19050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5200650" y="2914650"/>
            <a:ext cx="17907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巡检影像存储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5200650" y="3238500"/>
            <a:ext cx="1790700" cy="714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WebHDFS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读写；设备直传避免大文件压垮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MQ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；元数据走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MongoDB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、用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fileId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关联。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0" name="圆角矩形 369"/>
          <p:cNvSpPr/>
          <p:nvPr/>
        </p:nvSpPr>
        <p:spPr>
          <a:xfrm>
            <a:off x="7334250" y="1428750"/>
            <a:ext cx="2162175" cy="4381500"/>
          </a:xfrm>
          <a:prstGeom prst="roundRect">
            <a:avLst>
              <a:gd name="adj" fmla="val 440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71" name="圆角矩形 370"/>
          <p:cNvSpPr/>
          <p:nvPr/>
        </p:nvSpPr>
        <p:spPr>
          <a:xfrm>
            <a:off x="7524750" y="16192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7696200" y="17240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</a:t>
            </a:r>
            <a:endParaRPr 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3" name="文本框 372" descr="{&quot;isTemplate&quot;:true,&quot;type&quot;:&quot;text&quot;}"/>
          <p:cNvSpPr txBox="1"/>
          <p:nvPr/>
        </p:nvSpPr>
        <p:spPr>
          <a:xfrm>
            <a:off x="7524750" y="2228850"/>
            <a:ext cx="17811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Elasticsearch</a:t>
            </a:r>
            <a:endParaRPr lang="en-US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4" name="文本框 373" descr="{&quot;isTemplate&quot;:true,&quot;type&quot;:&quot;text&quot;}"/>
          <p:cNvSpPr txBox="1"/>
          <p:nvPr/>
        </p:nvSpPr>
        <p:spPr>
          <a:xfrm>
            <a:off x="7524750" y="2524125"/>
            <a:ext cx="17811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9.5.3 · Kibana 9.x</a:t>
            </a:r>
            <a:endParaRPr lang="en-US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5" name="矩形 374"/>
          <p:cNvSpPr/>
          <p:nvPr/>
        </p:nvSpPr>
        <p:spPr>
          <a:xfrm>
            <a:off x="7524750" y="2781300"/>
            <a:ext cx="304800" cy="19050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7524750" y="2914650"/>
            <a:ext cx="17811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检索</a:t>
            </a: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聚合分析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7524750" y="3238500"/>
            <a:ext cx="1781175" cy="714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告警双写副本；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terms / date_histogram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聚合统计；可随时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reindex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重建。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8" name="圆角矩形 377"/>
          <p:cNvSpPr/>
          <p:nvPr/>
        </p:nvSpPr>
        <p:spPr>
          <a:xfrm>
            <a:off x="9648825" y="1428750"/>
            <a:ext cx="2162175" cy="4381500"/>
          </a:xfrm>
          <a:prstGeom prst="roundRect">
            <a:avLst>
              <a:gd name="adj" fmla="val 440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79" name="圆角矩形 378"/>
          <p:cNvSpPr/>
          <p:nvPr/>
        </p:nvSpPr>
        <p:spPr>
          <a:xfrm>
            <a:off x="9839325" y="16192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9982200" y="1724025"/>
            <a:ext cx="180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endParaRPr 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1" name="文本框 380" descr="{&quot;isTemplate&quot;:true,&quot;type&quot;:&quot;text&quot;}"/>
          <p:cNvSpPr txBox="1"/>
          <p:nvPr/>
        </p:nvSpPr>
        <p:spPr>
          <a:xfrm>
            <a:off x="9839325" y="2228850"/>
            <a:ext cx="17811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Nginx</a:t>
            </a:r>
            <a:endParaRPr lang="en-US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9839325" y="2524125"/>
            <a:ext cx="17811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1.30 ·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含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upstream</a:t>
            </a:r>
            <a:endParaRPr lang="en-US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3" name="矩形 382"/>
          <p:cNvSpPr/>
          <p:nvPr/>
        </p:nvSpPr>
        <p:spPr>
          <a:xfrm>
            <a:off x="9839325" y="2781300"/>
            <a:ext cx="304800" cy="19050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9839325" y="2914650"/>
            <a:ext cx="17811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统一入口</a:t>
            </a: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负载均衡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5" name="文本框 384" descr="{&quot;isTemplate&quot;:true,&quot;type&quot;:&quot;text&quot;}"/>
          <p:cNvSpPr txBox="1"/>
          <p:nvPr/>
        </p:nvSpPr>
        <p:spPr>
          <a:xfrm>
            <a:off x="9839325" y="3238500"/>
            <a:ext cx="1781175" cy="714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静态资源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/api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反代；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实例轮询；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JWT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无状态使水平扩展成为可能。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6" name="圆角矩形 385"/>
          <p:cNvSpPr/>
          <p:nvPr/>
        </p:nvSpPr>
        <p:spPr>
          <a:xfrm>
            <a:off x="571500" y="6276975"/>
            <a:ext cx="11049000" cy="3429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387" name="文本框 386" descr="{&quot;isTemplate&quot;:true,&quot;type&quot;:&quot;text&quot;}"/>
          <p:cNvSpPr txBox="1"/>
          <p:nvPr/>
        </p:nvSpPr>
        <p:spPr>
          <a:xfrm>
            <a:off x="762000" y="6372225"/>
            <a:ext cx="61436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★ </a:t>
            </a:r>
            <a:r>
              <a:rPr lang="zh-CN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选型理由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 · 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同属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Apache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大数据生态；契合高吞吐流式场景；持久化与分区内有序满足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上报不丢、指令按序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9467850" y="6381750"/>
            <a:ext cx="19621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详见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需求分析与总体架构技术选型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.md</a:t>
            </a:r>
            <a:endParaRPr lang="en-US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9" name="文本框 388" descr="{&quot;isTemplate&quot;:true,&quot;type&quot;:&quot;text&quot;}"/>
          <p:cNvSpPr txBox="1"/>
          <p:nvPr/>
        </p:nvSpPr>
        <p:spPr>
          <a:xfrm>
            <a:off x="11325225" y="6657975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07 / 15</a:t>
            </a:r>
            <a:endParaRPr lang="en-US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0" name="" descr="&lt;Slide&gt;&#10;  {/* 全幅浅蓝底 */}&#10;  &lt;Box style={{ position: 'absolute', top: 0, left: 0, width: '100%', height: '100%', background: '#F0F5FC' }} /&gt;&#10;&#10;  {/* 左侧深蓝装饰条 */}&#10;  &lt;Box style={{ position: 'absolute', top: 0, left: 0, width: 16, height: '100%', background: '#1E4FA8' }} /&gt;&#10;&#10;  {/* 顶部黄色细线 */}&#10;  &lt;Box style={{ position: 'absolute', top: 180, left: 100, width: 60, height: 4, background: '#FFC107' }} /&gt;&#10;&#10;  {/* 大章节数字 */}&#10;  &lt;Text style={{ position: 'absolute', top: 120, left: 100, fontSize: 220, color: '#1E4FA8', fontWeight: 'bold', lineHeight: 1, fontFamily: 'Times New Roman' }}&gt;&#10;    03&#10;  &lt;/Text&gt;&#10;&#10;  {/* 章节小标 */}&#10;  &lt;Text style={{ position: 'absolute', top: 380, left: 100, fontSize: 18, color: '#3D7BD9', letterSpacing: 8, fontWeight: 'bold' }}&gt;&#10;    PART THREE&#10;  &lt;/Text&gt;&#10;&#10;  {/* 章节主标 */}&#10;  &lt;Text style={{ position: 'absolute', top: 410, left: 100, fontSize: 48, color: '#0E3F8C', fontWeight: 'bold' }}&gt;&#10;    核心实现与数据链路&#10;  &lt;/Text&gt;&#10;&#10;  {/* 章节副标 */}&#10;  &lt;Box style={{ position: 'absolute', top: 480, left: 100, flexDirection: 'column', gap: 12 }}&gt;&#10;    &lt;Text style={{ fontSize: 18, color: '#4A5568', lineHeight: 1.6 }}&gt;&#10;      数据流转 ——  从设备上报到存储可见的端到端链路&#10;    &lt;/Text&gt;&#10;    &lt;Text style={{ fontSize: 18, color: '#4A5568', lineHeight: 1.6 }}&gt;&#10;      核心闭环 ——  任务下发 + 告警处置 + 影像归档&#10;    &lt;/Text&gt;&#10;  &lt;/Box&gt;&#10;&#10;  {/* 右侧装饰 */}&#10;  &lt;Text style={{ position: 'absolute', top: 280, right: 80, fontSize: 220, color: '#1E4FA8', opacity: 0.08, fontWeight: 'bold', lineHeight: 1 }}&gt;&#10;    实&#10;  &lt;/Text&gt;&#10;&#10;  {/* 蓝色分割条 */}&#10;  &lt;Box style={{ position: 'absolute', top: 600, left: 100, width: 280, height: 4, background: '#1E4FA8' }} /&gt;&#10;&#10;  {/* 页脚 */}&#10;  &lt;Text style={{ position: 'absolute', bottom: 30, right: 50, fontSize: 14, color: '#8B97A8' }}&gt;&#10;    08 / 15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矩形 39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5FC"/>
          </a:solidFill>
        </p:spPr>
        <p:txBody>
          <a:bodyPr/>
          <a:p/>
        </p:txBody>
      </p:sp>
      <p:sp>
        <p:nvSpPr>
          <p:cNvPr id="392" name="矩形 39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393" name="矩形 392"/>
          <p:cNvSpPr/>
          <p:nvPr/>
        </p:nvSpPr>
        <p:spPr>
          <a:xfrm>
            <a:off x="952500" y="1714500"/>
            <a:ext cx="571500" cy="38100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952500" y="1143000"/>
            <a:ext cx="2095500" cy="2514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03</a:t>
            </a:r>
            <a:endParaRPr lang="en-US" sz="16500" b="1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95" name="文本框 394" descr="{&quot;isTemplate&quot;:true,&quot;type&quot;:&quot;text&quot;}"/>
          <p:cNvSpPr txBox="1"/>
          <p:nvPr/>
        </p:nvSpPr>
        <p:spPr>
          <a:xfrm>
            <a:off x="952500" y="3619500"/>
            <a:ext cx="1847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6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PART THREE</a:t>
            </a:r>
            <a:endParaRPr lang="en-US" sz="1350" b="1" spc="60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6" name="文本框 395" descr="{&quot;isTemplate&quot;:true,&quot;type&quot;:&quot;text&quot;}"/>
          <p:cNvSpPr txBox="1"/>
          <p:nvPr/>
        </p:nvSpPr>
        <p:spPr>
          <a:xfrm>
            <a:off x="952500" y="3905250"/>
            <a:ext cx="41148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核心实现与数据链路</a:t>
            </a:r>
            <a:endParaRPr lang="zh-CN" sz="36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952500" y="4572000"/>
            <a:ext cx="395287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数据流转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—— 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从设备上报到存储可见的端到端链路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8" name="文本框 397" descr="{&quot;isTemplate&quot;:true,&quot;type&quot;:&quot;text&quot;}"/>
          <p:cNvSpPr txBox="1"/>
          <p:nvPr/>
        </p:nvSpPr>
        <p:spPr>
          <a:xfrm>
            <a:off x="952500" y="5019675"/>
            <a:ext cx="395287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核心闭环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—— 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任务下发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告警处置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影像归档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9" name="文本框 398" descr="{&quot;isTemplate&quot;:true,&quot;type&quot;:&quot;text&quot;}"/>
          <p:cNvSpPr txBox="1"/>
          <p:nvPr/>
        </p:nvSpPr>
        <p:spPr>
          <a:xfrm>
            <a:off x="9334500" y="2667000"/>
            <a:ext cx="2095500" cy="2514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0" b="1">
                <a:solidFill>
                  <a:srgbClr val="1E4FA8">
                    <a:alpha val="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实</a:t>
            </a:r>
            <a:endParaRPr lang="zh-CN" sz="16500" b="1">
              <a:solidFill>
                <a:srgbClr val="1E4FA8">
                  <a:alpha val="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0" name="矩形 399"/>
          <p:cNvSpPr/>
          <p:nvPr/>
        </p:nvSpPr>
        <p:spPr>
          <a:xfrm>
            <a:off x="952500" y="5715000"/>
            <a:ext cx="2667000" cy="381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401" name="文本框 400" descr="{&quot;isTemplate&quot;:true,&quot;type&quot;:&quot;text&quot;}"/>
          <p:cNvSpPr txBox="1"/>
          <p:nvPr/>
        </p:nvSpPr>
        <p:spPr>
          <a:xfrm>
            <a:off x="11258550" y="64103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08 / 15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两条数据链路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元数据链路</a:t>
            </a:r>
            <a:endParaRPr lang="zh-CN" altLang="en-US"/>
          </a:p>
        </p:txBody>
      </p:sp>
      <p:sp>
        <p:nvSpPr>
          <p:cNvPr id="5" name="装饰  7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上行：设备</a:t>
            </a:r>
            <a:r>
              <a:rPr lang="en-US" altLang="zh-CN"/>
              <a:t>-&gt;</a:t>
            </a:r>
            <a:r>
              <a:rPr lang="zh-CN" altLang="en-US"/>
              <a:t>业务服务器</a:t>
            </a:r>
            <a:r>
              <a:rPr lang="en-US" altLang="zh-CN"/>
              <a:t>       </a:t>
            </a:r>
            <a:r>
              <a:rPr lang="zh-CN" altLang="en-US"/>
              <a:t>六个</a:t>
            </a:r>
            <a:r>
              <a:rPr lang="en-US" altLang="zh-CN"/>
              <a:t>topic</a:t>
            </a:r>
            <a:endParaRPr lang="en-US" altLang="zh-CN"/>
          </a:p>
          <a:p>
            <a:r>
              <a:rPr lang="zh-CN" altLang="en-US"/>
              <a:t>下行：业务服务器</a:t>
            </a:r>
            <a:r>
              <a:rPr lang="en-US" altLang="zh-CN"/>
              <a:t>-&gt; </a:t>
            </a:r>
            <a:r>
              <a:rPr lang="zh-CN" altLang="en-US"/>
              <a:t>设备</a:t>
            </a:r>
            <a:r>
              <a:rPr lang="en-US" altLang="zh-CN"/>
              <a:t>      </a:t>
            </a:r>
            <a:r>
              <a:rPr lang="zh-CN" altLang="en-US"/>
              <a:t>一个</a:t>
            </a:r>
            <a:r>
              <a:rPr lang="en-US" altLang="zh-CN"/>
              <a:t>topic</a:t>
            </a:r>
            <a:endParaRPr lang="en-US" altLang="zh-CN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影像数据链路</a:t>
            </a:r>
            <a:endParaRPr lang="zh-CN" altLang="en-US"/>
          </a:p>
        </p:txBody>
      </p:sp>
      <p:sp>
        <p:nvSpPr>
          <p:cNvPr id="8" name="装饰  0"/>
          <p:cNvSpPr>
            <a:spLocks noGrp="1"/>
          </p:cNvSpPr>
          <p:nvPr>
            <p:ph type="body" idx="16391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设备</a:t>
            </a:r>
            <a:r>
              <a:rPr lang="en-US" altLang="zh-CN"/>
              <a:t>-&gt;</a:t>
            </a:r>
            <a:r>
              <a:rPr lang="zh-CN" altLang="en-US"/>
              <a:t>业务服务</a:t>
            </a:r>
            <a:r>
              <a:rPr lang="en-US" altLang="zh-CN"/>
              <a:t>-&gt;</a:t>
            </a:r>
            <a:r>
              <a:rPr lang="zh-CN" altLang="en-US"/>
              <a:t>设备</a:t>
            </a:r>
            <a:r>
              <a:rPr lang="en-US" altLang="zh-CN"/>
              <a:t>-&gt;HDFS</a:t>
            </a:r>
            <a:r>
              <a:rPr lang="zh-CN" altLang="en-US"/>
              <a:t>层存储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2" name="" descr="&lt;Slide&gt;&#10;  {/* 白底 */}&#10;  &lt;Box style={{ position: 'absolute', top: 0, left: 0, width: '100%', height: '100%', background: '#FFFFFF' }} /&gt;&#10;&#10;  {/* 顶部细深蓝条 */}&#10;  &lt;Box style={{ position: 'absolute', top: 0, left: 0, width: '100%', height: 8, background: '#1E4FA8' }} /&gt;&#10;&#10;  {/* 标题区 */}&#10;  &lt;Text style={{ position: 'absolute', top: 30, left: 60, fontSize: 18, color: '#3D7BD9', letterSpacing: 4, fontWeight: 'bold' }}&gt;&#10;    03 · 核心实现与数据链路&#10;  &lt;/Text&gt;&#10;  &lt;Text style={{ position: 'absolute', top: 58, left: 60, fontSize: 36, color: '#0E3F8C', fontWeight: 'bold' }}&gt;&#10;    数据流转链路：从设备到存储&#10;  &lt;/Text&gt;&#10;  &lt;Box style={{ position: 'absolute', top: 112, left: 60, width: 60, height: 3, background: '#FFC107' }} /&gt;&#10;&#10;  {/* 左大图 - 时序图 */}&#10;  &lt;Box style={{ position: 'absolute', top: 140, left: 50, width: 740, height: 460, background: '#F7F9FC', borderRadius: 12, padding: 16, border: '1px solid #D6DCE5' }}&gt;&#10;    &lt;Image src=&quot;assets/sequence.png&quot; style={{ width: '100%', height: '100%', objectFit: 'contain' }} /&gt;&#10;  &lt;/Box&gt;&#10;&#10;  {/* 右侧 4 关键点 */}&#10;  &lt;Box style={{ position: 'absolute', top: 140, left: 810, width: 420, height: 460, flexDirection: 'column', gap: 14 }}&gt;&#10;&#10;    &lt;Text style={{ fontSize: 16, color: '#1E4FA8', fontWeight: 'bold' }}&gt;★ 五步链路&lt;/Text&gt;&#10;&#10;    {/* Step 1 */}&#10;    &lt;Box style={{ background: '#F7F9FC', borderRadius: 8, padding: 16, borderLeft: '4px solid #1E4FA8', flexDirection: 'column' }}&gt;&#10;      &lt;Text style={{ fontSize: 14, color: '#1A2230', fontWeight: 'bold' }}&gt;① 设备侧上报&lt;/Text&gt;&#10;      &lt;Text style={{ fontSize: 12, color: '#4A5568', lineHeight: 1.5, marginTop: 4 }}&gt;&#10;        心跳 / GPS / 影像元数据 / 告警 → 7 个 topic 上行&#10;      &lt;/Text&gt;&#10;    &lt;/Box&gt;&#10;&#10;    {/* Step 2 */}&#10;    &lt;Box style={{ background: '#F7F9FC', borderRadius: 8, padding: 16, borderLeft: '4px solid #1E4FA8', flexDirection: 'column' }}&gt;&#10;      &lt;Text style={{ fontSize: 14, color: '#1A2230', fontWeight: 'bold' }}&gt;② Kafka 解耦&lt;/Text&gt;&#10;      &lt;Text style={{ fontSize: 12, color: '#4A5568', lineHeight: 1.5, marginTop: 4 }}&gt;&#10;        业务服务订阅、offset 提交；强可靠消息 acks=all + 幂等&#10;      &lt;/Text&gt;&#10;    &lt;/Box&gt;&#10;&#10;    {/* Step 3 */}&#10;    &lt;Box style={{ background: '#F7F9FC', borderRadius: 8, padding: 16, borderLeft: '4px solid #1E4FA8', flexDirection: 'column' }}&gt;&#10;      &lt;Text style={{ fontSize: 14, color: '#1A2230', fontWeight: 'bold' }}&gt;③ 影像直传 HDFS&lt;/Text&gt;&#10;      &lt;Text style={{ fontSize: 12, color: '#4A5568', lineHeight: 1.5, marginTop: 4 }}&gt;&#10;        大文件不经 MQ，设备侧直传 HDFS；元数据走 Kafka&#10;      &lt;/Text&gt;&#10;    &lt;/Box&gt;&#10;&#10;    {/* Step 4 */}&#10;    &lt;Box style={{ background: '#F7F9FC', borderRadius: 8, padding: 16, borderLeft: '4px solid #1E4FA8', flexDirection: 'column' }}&gt;&#10;      &lt;Text style={{ fontSize: 14, color: '#1A2230', fontWeight: 'bold' }}&gt;④ 告警双写&lt;/Text&gt;&#10;      &lt;Text style={{ fontSize: 12, color: '#4A5568', lineHeight: 1.5, marginTop: 4 }}&gt;&#10;        MongoDB 权威 + ES 副本；以 Mongo 为准，ES 可重建&#10;      &lt;/Text&gt;&#10;    &lt;/Box&gt;&#10;&#10;    {/* Step 5 */}&#10;    &lt;Box style={{ background: '#F7F9FC', borderRadius: 8, padding: 16, borderLeft: '4px solid #1E4FA8', flexDirection: 'column' }}&gt;&#10;      &lt;Text style={{ fontSize: 14, color: '#1A2230', fontWeight: 'bold' }}&gt;⑤ 离线检测 + 任务回执&lt;/Text&gt;&#10;      &lt;Text style={{ fontSize: 12, color: '#4A5568', lineHeight: 1.5, marginTop: 4 }}&gt;&#10;        心跳超时 15 秒判离线；设备三阶段回执推进任务状态机&#10;      &lt;/Text&gt;&#10;    &lt;/Box&gt;&#10;&#10;  &lt;/Box&gt;&#10;&#10;  {/* 底部强调条 */}&#10;  &lt;Box style={{ position: 'absolute', bottom: 25, left: 60, right: 60, height: 36, background: '#0E3F8C', borderRadius: 4, padding: '0 20', flexDirection: 'row', alignItems: 'center', justifyContent: 'space-between' }}&gt;&#10;    &lt;Text style={{ fontSize: 13, color: '#FFFFFF' }}&gt;&#10;      &lt;span style={{ fontWeight: 'bold', color: '#FFC107' }}&gt;★ 关键判断：&lt;/span&gt; 设备侧数据源、平台侧中间件、业务侧消费与存储 —— 三方各司其职，不互相侵入&#10;    &lt;/Text&gt;&#10;  &lt;/Box&gt;&#10;&#10;  {/* 页脚 */}&#10;  &lt;Text style={{ position: 'absolute', bottom: 6, right: 50, fontSize: 12, color: '#8B97A8' }}&gt;&#10;    09 / 15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矩形 40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04" name="矩形 40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571500" y="285750"/>
            <a:ext cx="24669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3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03 · </a:t>
            </a:r>
            <a:r>
              <a:rPr lang="zh-CN" sz="1350" b="1" spc="3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核心实现与数据链路</a:t>
            </a:r>
            <a:endParaRPr lang="zh-CN" sz="1350" b="1" spc="30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571500" y="552450"/>
            <a:ext cx="44577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数据流转链路：从设备到存储</a:t>
            </a:r>
            <a:endParaRPr lang="zh-CN" sz="27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7" name="矩形 406"/>
          <p:cNvSpPr/>
          <p:nvPr/>
        </p:nvSpPr>
        <p:spPr>
          <a:xfrm>
            <a:off x="571500" y="1066800"/>
            <a:ext cx="571500" cy="28575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408" name="圆角矩形 407"/>
          <p:cNvSpPr/>
          <p:nvPr/>
        </p:nvSpPr>
        <p:spPr>
          <a:xfrm>
            <a:off x="476250" y="1333500"/>
            <a:ext cx="7048500" cy="4381500"/>
          </a:xfrm>
          <a:prstGeom prst="roundRect">
            <a:avLst>
              <a:gd name="adj" fmla="val 260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10" name="文本框 409" descr="{&quot;isTemplate&quot;:true,&quot;type&quot;:&quot;text&quot;}"/>
          <p:cNvSpPr txBox="1"/>
          <p:nvPr/>
        </p:nvSpPr>
        <p:spPr>
          <a:xfrm>
            <a:off x="7715250" y="1333500"/>
            <a:ext cx="4000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★ </a:t>
            </a:r>
            <a:r>
              <a:rPr lang="zh-CN" sz="1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五步链路</a:t>
            </a:r>
            <a:endParaRPr lang="zh-CN" sz="12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1" name="圆角矩形 410"/>
          <p:cNvSpPr/>
          <p:nvPr>
            <p:custDataLst>
              <p:tags r:id="rId1"/>
            </p:custDataLst>
          </p:nvPr>
        </p:nvSpPr>
        <p:spPr>
          <a:xfrm>
            <a:off x="7753350" y="1657350"/>
            <a:ext cx="4000500" cy="714375"/>
          </a:xfrm>
          <a:prstGeom prst="roundRect">
            <a:avLst>
              <a:gd name="adj" fmla="val 10667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412" name="任意多边形 411"/>
          <p:cNvSpPr/>
          <p:nvPr>
            <p:custDataLst>
              <p:tags r:id="rId2"/>
            </p:custDataLst>
          </p:nvPr>
        </p:nvSpPr>
        <p:spPr>
          <a:xfrm>
            <a:off x="7753350" y="1657350"/>
            <a:ext cx="4000500" cy="714375"/>
          </a:xfrm>
          <a:custGeom>
            <a:avLst/>
            <a:gdLst/>
            <a:ahLst/>
            <a:cxnLst/>
            <a:pathLst>
              <a:path w="420" h="7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1"/>
                </a:lnTo>
                <a:cubicBezTo>
                  <a:pt x="4" y="73"/>
                  <a:pt x="5" y="75"/>
                  <a:pt x="7" y="75"/>
                </a:cubicBezTo>
                <a:cubicBezTo>
                  <a:pt x="3" y="75"/>
                  <a:pt x="0" y="71"/>
                  <a:pt x="0" y="6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413" name="文本框 412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7905750" y="1809750"/>
            <a:ext cx="3657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设备侧上报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4" name="文本框 413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7905750" y="2009775"/>
            <a:ext cx="36576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心跳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GPS /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影像元数据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告警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7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topic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上行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5" name="圆角矩形 414"/>
          <p:cNvSpPr/>
          <p:nvPr>
            <p:custDataLst>
              <p:tags r:id="rId5"/>
            </p:custDataLst>
          </p:nvPr>
        </p:nvSpPr>
        <p:spPr>
          <a:xfrm>
            <a:off x="7753350" y="2505075"/>
            <a:ext cx="4000500" cy="714375"/>
          </a:xfrm>
          <a:prstGeom prst="roundRect">
            <a:avLst>
              <a:gd name="adj" fmla="val 10667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416" name="任意多边形 415"/>
          <p:cNvSpPr/>
          <p:nvPr>
            <p:custDataLst>
              <p:tags r:id="rId6"/>
            </p:custDataLst>
          </p:nvPr>
        </p:nvSpPr>
        <p:spPr>
          <a:xfrm>
            <a:off x="7753350" y="2505075"/>
            <a:ext cx="4000500" cy="714375"/>
          </a:xfrm>
          <a:custGeom>
            <a:avLst/>
            <a:gdLst/>
            <a:ahLst/>
            <a:cxnLst/>
            <a:pathLst>
              <a:path w="420" h="7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1"/>
                </a:lnTo>
                <a:cubicBezTo>
                  <a:pt x="4" y="73"/>
                  <a:pt x="5" y="75"/>
                  <a:pt x="7" y="75"/>
                </a:cubicBezTo>
                <a:cubicBezTo>
                  <a:pt x="3" y="75"/>
                  <a:pt x="0" y="71"/>
                  <a:pt x="0" y="6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417" name="文本框 416" descr="{&quot;isTemplate&quot;:true,&quot;type&quot;:&quot;text&quot;}"/>
          <p:cNvSpPr txBox="1"/>
          <p:nvPr>
            <p:custDataLst>
              <p:tags r:id="rId7"/>
            </p:custDataLst>
          </p:nvPr>
        </p:nvSpPr>
        <p:spPr>
          <a:xfrm>
            <a:off x="7905750" y="2657475"/>
            <a:ext cx="3657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② Kafka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解耦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8" name="文本框 417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7905750" y="2857500"/>
            <a:ext cx="36576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业务服务订阅、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offset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提交；强可靠消息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acks=all +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幂等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9" name="圆角矩形 418"/>
          <p:cNvSpPr/>
          <p:nvPr>
            <p:custDataLst>
              <p:tags r:id="rId9"/>
            </p:custDataLst>
          </p:nvPr>
        </p:nvSpPr>
        <p:spPr>
          <a:xfrm>
            <a:off x="7753350" y="3352800"/>
            <a:ext cx="4000500" cy="714375"/>
          </a:xfrm>
          <a:prstGeom prst="roundRect">
            <a:avLst>
              <a:gd name="adj" fmla="val 10667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420" name="任意多边形 419"/>
          <p:cNvSpPr/>
          <p:nvPr>
            <p:custDataLst>
              <p:tags r:id="rId10"/>
            </p:custDataLst>
          </p:nvPr>
        </p:nvSpPr>
        <p:spPr>
          <a:xfrm>
            <a:off x="7753350" y="3352800"/>
            <a:ext cx="4000500" cy="714375"/>
          </a:xfrm>
          <a:custGeom>
            <a:avLst/>
            <a:gdLst/>
            <a:ahLst/>
            <a:cxnLst/>
            <a:pathLst>
              <a:path w="420" h="7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1"/>
                </a:lnTo>
                <a:cubicBezTo>
                  <a:pt x="4" y="73"/>
                  <a:pt x="5" y="75"/>
                  <a:pt x="7" y="75"/>
                </a:cubicBezTo>
                <a:cubicBezTo>
                  <a:pt x="3" y="75"/>
                  <a:pt x="0" y="71"/>
                  <a:pt x="0" y="6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421" name="文本框 420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7905750" y="3505200"/>
            <a:ext cx="3657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影像直传</a:t>
            </a: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HDFS</a:t>
            </a:r>
            <a:endParaRPr lang="en-US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2" name="文本框 421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7905750" y="3705225"/>
            <a:ext cx="36576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大文件不经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MQ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，设备侧直传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HDFS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；元数据走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Kafka</a:t>
            </a:r>
            <a:endParaRPr lang="en-US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3" name="圆角矩形 422"/>
          <p:cNvSpPr/>
          <p:nvPr>
            <p:custDataLst>
              <p:tags r:id="rId13"/>
            </p:custDataLst>
          </p:nvPr>
        </p:nvSpPr>
        <p:spPr>
          <a:xfrm>
            <a:off x="7753350" y="4200525"/>
            <a:ext cx="4000500" cy="714375"/>
          </a:xfrm>
          <a:prstGeom prst="roundRect">
            <a:avLst>
              <a:gd name="adj" fmla="val 10667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424" name="任意多边形 423"/>
          <p:cNvSpPr/>
          <p:nvPr>
            <p:custDataLst>
              <p:tags r:id="rId14"/>
            </p:custDataLst>
          </p:nvPr>
        </p:nvSpPr>
        <p:spPr>
          <a:xfrm>
            <a:off x="7753350" y="4200525"/>
            <a:ext cx="4000500" cy="714375"/>
          </a:xfrm>
          <a:custGeom>
            <a:avLst/>
            <a:gdLst/>
            <a:ahLst/>
            <a:cxnLst/>
            <a:pathLst>
              <a:path w="420" h="7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1"/>
                </a:lnTo>
                <a:cubicBezTo>
                  <a:pt x="4" y="73"/>
                  <a:pt x="5" y="75"/>
                  <a:pt x="7" y="75"/>
                </a:cubicBezTo>
                <a:cubicBezTo>
                  <a:pt x="3" y="75"/>
                  <a:pt x="0" y="71"/>
                  <a:pt x="0" y="6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425" name="文本框 424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7905750" y="4352925"/>
            <a:ext cx="3657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④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告警双写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6" name="文本框 425" descr="{&quot;isTemplate&quot;:true,&quot;type&quot;:&quot;text&quot;}"/>
          <p:cNvSpPr txBox="1"/>
          <p:nvPr>
            <p:custDataLst>
              <p:tags r:id="rId16"/>
            </p:custDataLst>
          </p:nvPr>
        </p:nvSpPr>
        <p:spPr>
          <a:xfrm>
            <a:off x="7905750" y="4552950"/>
            <a:ext cx="36576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MongoDB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权威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ES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副本；以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Mongo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为准，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ES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可重建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7" name="圆角矩形 426"/>
          <p:cNvSpPr/>
          <p:nvPr/>
        </p:nvSpPr>
        <p:spPr>
          <a:xfrm>
            <a:off x="7753350" y="5048250"/>
            <a:ext cx="4000500" cy="714375"/>
          </a:xfrm>
          <a:prstGeom prst="roundRect">
            <a:avLst>
              <a:gd name="adj" fmla="val 10667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428" name="任意多边形 427"/>
          <p:cNvSpPr/>
          <p:nvPr/>
        </p:nvSpPr>
        <p:spPr>
          <a:xfrm>
            <a:off x="7753350" y="5048250"/>
            <a:ext cx="4000500" cy="714375"/>
          </a:xfrm>
          <a:custGeom>
            <a:avLst/>
            <a:gdLst/>
            <a:ahLst/>
            <a:cxnLst/>
            <a:pathLst>
              <a:path w="420" h="7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1"/>
                </a:lnTo>
                <a:cubicBezTo>
                  <a:pt x="4" y="73"/>
                  <a:pt x="5" y="75"/>
                  <a:pt x="7" y="75"/>
                </a:cubicBezTo>
                <a:cubicBezTo>
                  <a:pt x="3" y="75"/>
                  <a:pt x="0" y="71"/>
                  <a:pt x="0" y="6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429" name="文本框 428" descr="{&quot;isTemplate&quot;:true,&quot;type&quot;:&quot;text&quot;}"/>
          <p:cNvSpPr txBox="1"/>
          <p:nvPr/>
        </p:nvSpPr>
        <p:spPr>
          <a:xfrm>
            <a:off x="7905750" y="5200650"/>
            <a:ext cx="3657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⑤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离线检测</a:t>
            </a: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任务回执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0" name="文本框 429" descr="{&quot;isTemplate&quot;:true,&quot;type&quot;:&quot;text&quot;}"/>
          <p:cNvSpPr txBox="1"/>
          <p:nvPr/>
        </p:nvSpPr>
        <p:spPr>
          <a:xfrm>
            <a:off x="7905750" y="5400675"/>
            <a:ext cx="36576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心跳超时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秒判离线；设备三阶段回执推进任务状态机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1" name="圆角矩形 430"/>
          <p:cNvSpPr/>
          <p:nvPr/>
        </p:nvSpPr>
        <p:spPr>
          <a:xfrm>
            <a:off x="571500" y="6276975"/>
            <a:ext cx="11049000" cy="342900"/>
          </a:xfrm>
          <a:prstGeom prst="roundRect">
            <a:avLst>
              <a:gd name="adj" fmla="val 11111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432" name="文本框 431" descr="{&quot;isTemplate&quot;:true,&quot;type&quot;:&quot;text&quot;}"/>
          <p:cNvSpPr txBox="1"/>
          <p:nvPr/>
        </p:nvSpPr>
        <p:spPr>
          <a:xfrm>
            <a:off x="762000" y="6372225"/>
            <a:ext cx="53530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★ </a:t>
            </a:r>
            <a:r>
              <a:rPr lang="zh-CN" sz="975" b="1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关键判断：</a:t>
            </a:r>
            <a:r>
              <a:rPr lang="en-US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设备侧数据源、平台侧中间件、业务侧消费与存储</a:t>
            </a:r>
            <a:r>
              <a:rPr lang="en-US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三方各司其职，不互相侵入</a:t>
            </a:r>
            <a:endParaRPr lang="zh-CN" sz="9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3" name="文本框 432" descr="{&quot;isTemplate&quot;:true,&quot;type&quot;:&quot;text&quot;}"/>
          <p:cNvSpPr txBox="1"/>
          <p:nvPr/>
        </p:nvSpPr>
        <p:spPr>
          <a:xfrm>
            <a:off x="11325225" y="6657975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09 / 15</a:t>
            </a:r>
            <a:endParaRPr lang="en-US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" name="图片 0" descr="deepseek_mermaid_20260924_1a9eb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1106805"/>
            <a:ext cx="12192000" cy="51835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 descr="&lt;Slide&gt;&#10;  {/* 白底 */}&#10;  &lt;Box style={{ position: 'absolute', top: 0, left: 0, width: '100%', height: '100%', background: '#FFFFFF' }} /&gt;&#10;&#10;  {/* 顶部细深蓝条 */}&#10;  &lt;Box style={{ position: 'absolute', top: 0, left: 0, width: '100%', height: 8, background: '#1E4FA8' }} /&gt;&#10;&#10;  {/* 标题区 */}&#10;  &lt;Text style={{ position: 'absolute', top: 30, left: 60, fontSize: 18, color: '#3D7BD9', letterSpacing: 4, fontWeight: 'bold' }}&gt;&#10;    03 · 核心实现与数据链路&#10;  &lt;/Text&gt;&#10;  &lt;Text style={{ position: 'absolute', top: 58, left: 60, fontSize: 36, color: '#0E3F8C', fontWeight: 'bold' }}&gt;&#10;    核心业务闭环：任务 + 告警 + 影像&#10;  &lt;/Text&gt;&#10;  &lt;Box style={{ position: 'absolute', top: 112, left: 60, width: 60, height: 3, background: '#FFC107' }} /&gt;&#10;&#10;  {/* 3 张并列大卡 */}&#10;  &lt;Box style={{ position: 'absolute', top: 150, left: 40, width: 1200, height: 460, flexDirection: 'row', gap: 18 }}&gt;&#10;&#10;    {/* 卡 1: 任务闭环 */}&#10;    &lt;Box style={{ flex: 1, background: '#FFFFFF', borderRadius: 10, padding: 20, border: '1px solid #D6DCE5', flexDirection: 'column' }}&gt;&#10;      &lt;Box style={{ flexDirection: 'row', alignItems: 'center', gap: 10, marginBottom: 16 }}&gt;&#10;        &lt;Box style={{ width: 36, height: 36, borderRadius: 18, background: '#0E3F8C', alignItems: 'center', justifyContent: 'center' }}&gt;&#10;          &lt;Text style={{ fontSize: 16, color: '#FFFFFF', fontWeight: 'bold' }}&gt;T&lt;/Text&gt;&#10;        &lt;/Box&gt;&#10;        &lt;Text style={{ fontSize: 20, color: '#0E3F8C', fontWeight: 'bold' }}&gt;任务闭环&lt;/Text&gt;&#10;      &lt;/Box&gt;&#10;&#10;      {/* 状态机 */}&#10;      &lt;Box style={{ background: '#F0F5FC', borderRadius: 6, padding: 14, gap: 8, flexDirection: 'column' }}&gt;&#10;        &lt;Box style={{ flexDirection: 'row', alignItems: 'center', gap: 4 }}&gt;&#10;          &lt;Box style={{ background: '#1E4FA8', padding: '4 8', borderRadius: 4 }}&gt;&#10;            &lt;Text style={{ fontSize: 11, color: '#FFFFFF' }}&gt;已下发&lt;/Text&gt;&#10;          &lt;/Box&gt;&#10;          &lt;Text style={{ fontSize: 11, color: '#8B97A8' }}&gt;→&lt;/Text&gt;&#10;          &lt;Box style={{ background: '#3D7BD9', padding: '4 8', borderRadius: 4 }}&gt;&#10;            &lt;Text style={{ fontSize: 11, color: '#FFFFFF' }}&gt;执行中&lt;/Text&gt;&#10;          &lt;/Box&gt;&#10;          &lt;Text style={{ fontSize: 11, color: '#8B97A8' }}&gt;→&lt;/Text&gt;&#10;          &lt;Box style={{ background: '#5BA854', padding: '4 8', borderRadius: 4 }}&gt;&#10;            &lt;Text style={{ fontSize: 11, color: '#FFFFFF' }}&gt;已完成&lt;/Text&gt;&#10;          &lt;/Box&gt;&#10;        &lt;/Box&gt;&#10;        &lt;Text style={{ fontSize: 11, color: '#4A5568', lineHeight: 1.5, marginTop: 4 }}&gt;&#10;          状态机四态推进 · 进度条 0→50→100 · 回执时间轴&#10;        &lt;/Text&gt;&#10;      &lt;/Box&gt;&#10;&#10;      &lt;Text style={{ fontSize: 12, color: '#1A2230', lineHeight: 1.6, marginTop: 14 }}&gt;&#10;        值班员建单 → 设备三阶段回执 → 平台按状态机推进。&#10;        &lt;span style={{ color: '#D9534F', fontWeight: 'bold' }}&gt;&quot;已下发&quot;≠&quot;执行中&quot;&lt;/span&gt; —— 只有收到 STARTED 回执才确认设备真在执行。&#10;      &lt;/Text&gt;&#10;      &lt;Text style={{ fontSize: 11, color: '#8B97A8', marginTop: 10 }}&gt;&#10;        UC-12 / UC-13 / UC-04&#10;      &lt;/Text&gt;&#10;    &lt;/Box&gt;&#10;&#10;    {/* 卡 2: 告警闭环 */}&#10;    &lt;Box style={{ flex: 1, background: '#FFFFFF', borderRadius: 10, padding: 20, border: '1px solid #D6DCE5', flexDirection: 'column' }}&gt;&#10;      &lt;Box style={{ flexDirection: 'row', alignItems: 'center', gap: 10, marginBottom: 16 }}&gt;&#10;        &lt;Box style={{ width: 36, height: 36, borderRadius: 18, background: '#1E4FA8', alignItems: 'center', justifyContent: 'center' }}&gt;&#10;          &lt;Text style={{ fontSize: 16, color: '#FFFFFF', fontWeight: 'bold' }}&gt;A&lt;/Text&gt;&#10;        &lt;/Box&gt;&#10;        &lt;Text style={{ fontSize: 20, color: '#0E3F8C', fontWeight: 'bold' }}&gt;告警闭环&lt;/Text&gt;&#10;      &lt;/Box&gt;&#10;&#10;      {/* 流程 */}&#10;      &lt;Box style={{ background: '#F0F5FC', borderRadius: 6, padding: 14, gap: 6, flexDirection: 'column' }}&gt;&#10;        &lt;Box style={{ flexDirection: 'row', alignItems: 'center', gap: 4, flexWrap: 'wrap' }}&gt;&#10;          &lt;Box style={{ background: '#D9534F', padding: '4 8', borderRadius: 4 }}&gt;&#10;            &lt;Text style={{ fontSize: 11, color: '#FFFFFF' }}&gt;产生&lt;/Text&gt;&#10;          &lt;/Box&gt;&#10;          &lt;Text style={{ fontSize: 11, color: '#8B97A8' }}&gt;→&lt;/Text&gt;&#10;          &lt;Box style={{ background: '#1E4FA8', padding: '4 8', borderRadius: 4 }}&gt;&#10;            &lt;Text style={{ fontSize: 11, color: '#FFFFFF' }}&gt;入库&lt;/Text&gt;&#10;          &lt;/Box&gt;&#10;          &lt;Text style={{ fontSize: 11, color: '#8B97A8' }}&gt;→&lt;/Text&gt;&#10;          &lt;Box style={{ background: '#3D7BD9', padding: '4 8', borderRadius: 4 }}&gt;&#10;            &lt;Text style={{ fontSize: 11, color: '#FFFFFF' }}&gt;检索&lt;/Text&gt;&#10;          &lt;/Box&gt;&#10;          &lt;Text style={{ fontSize: 11, color: '#8B97A8' }}&gt;→&lt;/Text&gt;&#10;          &lt;Box style={{ background: '#5BA854', padding: '4 8', borderRadius: 4 }}&gt;&#10;            &lt;Text style={{ fontSize: 11, color: '#FFFFFF' }}&gt;处置&lt;/Text&gt;&#10;          &lt;/Box&gt;&#10;        &lt;/Box&gt;&#10;        &lt;Text style={{ fontSize: 11, color: '#4A5568', lineHeight: 1.5, marginTop: 4 }}&gt;&#10;          5 状态过滤 · 多条件任意组合 · 批量处置联动复核任务&#10;        &lt;/Text&gt;&#10;      &lt;/Box&gt;&#10;&#10;      &lt;Text style={{ fontSize: 12, color: '#1A2230', lineHeight: 1.6, marginTop: 14 }}&gt;&#10;        多条件检索（状态/设备/类型/级别/时间）走 MongoDB 动态 Criteria；聚合统计走 ES。批量处置勾选 3 条自动生成 3 条复核任务。&#10;      &lt;/Text&gt;&#10;      &lt;Text style={{ fontSize: 11, color: '#8B97A8', marginTop: 10 }}&gt;&#10;        UC-14 / UC-15 / UC-16&#10;      &lt;/Text&gt;&#10;    &lt;/Box&gt;&#10;&#10;    {/* 卡 3: 影像归档 */}&#10;    &lt;Box style={{ flex: 1, background: '#FFFFFF', borderRadius: 10, padding: 20, border: '1px solid #D6DCE5', flexDirection: 'column' }}&gt;&#10;      &lt;Box style={{ flexDirection: 'row', alignItems: 'center', gap: 10, marginBottom: 16 }}&gt;&#10;        &lt;Box style={{ width: 36, height: 36, borderRadius: 18, background: '#0E3F8C', alignItems: 'center', justifyContent: 'center' }}&gt;&#10;          &lt;Text style={{ fontSize: 16, color: '#FFFFFF', fontWeight: 'bold' }}&gt;M&lt;/Text&gt;&#10;        &lt;/Box&gt;&#10;        &lt;Text style={{ fontSize: 20, color: '#0E3F8C', fontWeight: 'bold' }}&gt;影像归档&lt;/Text&gt;&#10;      &lt;/Box&gt;&#10;&#10;      {/* 流程 */}&#10;      &lt;Box style={{ background: '#F0F5FC', borderRadius: 6, padding: 14, gap: 6, flexDirection: 'column' }}&gt;&#10;        &lt;Box style={{ flexDirection: 'row', alignItems: 'center', gap: 4, flexWrap: 'wrap' }}&gt;&#10;          &lt;Box style={{ background: '#0E3F8C', padding: '4 8', borderRadius: 4 }}&gt;&#10;            &lt;Text style={{ fontSize: 11, color: '#FFFFFF' }}&gt;设备直传&lt;/Text&gt;&#10;          &lt;/Box&gt;&#10;          &lt;Text style={{ fontSize: 11, color: '#8B97A8' }}&gt;→&lt;/Text&gt;&#10;          &lt;Box style={{ background: '#1E4FA8', padding: '4 8', borderRadius: 4 }}&gt;&#10;            &lt;Text style={{ fontSize: 11, color: '#FFFFFF' }}&gt;HDFS 存储&lt;/Text&gt;&#10;          &lt;/Box&gt;&#10;          &lt;Text style={{ fontSize: 11, color: '#8B97A8' }}&gt;→&lt;/Text&gt;&#10;          &lt;Box style={{ background: '#3D7BD9', padding: '4 8', borderRadius: 4 }}&gt;&#10;            &lt;Text style={{ fontSize: 11, color: '#FFFFFF' }}&gt;MongoDB 元数据&lt;/Text&gt;&#10;          &lt;/Box&gt;&#10;        &lt;/Box&gt;&#10;        &lt;Text style={{ fontSize: 11, color: '#4A5568', lineHeight: 1.5, marginTop: 4 }}&gt;&#10;          fileId 关联 · 列表/预览/下载 · 设备直传避免压垮 MQ&#10;        &lt;/Text&gt;&#10;      &lt;/Box&gt;&#10;&#10;      &lt;Text style={{ fontSize: 12, color: '#1A2230', lineHeight: 1.6, marginTop: 14 }}&gt;&#10;        影像文件存 HDFS、元数据存 MongoDB，通过 fileId 关联；下载时业务服务从 HDFS 读取。&#10;        &lt;span style={{ color: '#D9534F', fontWeight: 'bold' }}&gt;影像不入 MQ&lt;/span&gt;是本项目最重要的设计之一。&#10;      &lt;/Text&gt;&#10;      &lt;Text style={{ fontSize: 11, color: '#8B97A8', marginTop: 10 }}&gt;&#10;        UC-03 · 影像文件通道设计.md&#10;      &lt;/Text&gt;&#10;    &lt;/Box&gt;&#10;&#10;  &lt;/Box&gt;&#10;&#10;  {/* 底部强调条 */}&#10;  &lt;Box style={{ position: 'absolute', bottom: 25, left: 60, right: 60, height: 36, background: '#F0F5FC', borderRadius: 4, padding: '0 20', flexDirection: 'row', alignItems: 'center', justifyContent: 'space-between' }}&gt;&#10;    &lt;Text style={{ fontSize: 13, color: '#1A2230' }}&gt;&#10;      &lt;span style={{ fontWeight: 'bold', color: '#0E3F8C' }}&gt;★ 三大闭环：&lt;/span&gt; 三类核心业务都遵循&quot;消息中间件解耦 + 多存储协同 + 状态机推进&quot;的一致模式&#10;    &lt;/Text&gt;&#10;  &lt;/Box&gt;&#10;&#10;  {/* 页脚 */}&#10;  &lt;Text style={{ position: 'absolute', bottom: 6, right: 50, fontSize: 12, color: '#8B97A8' }}&gt;&#10;    10 / 15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" name="矩形 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571500" y="285750"/>
            <a:ext cx="24669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3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03 · </a:t>
            </a:r>
            <a:r>
              <a:rPr lang="zh-CN" sz="1350" b="1" spc="3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核心实现与数据链路</a:t>
            </a:r>
            <a:endParaRPr lang="zh-CN" sz="1350" b="1" spc="30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571500" y="552450"/>
            <a:ext cx="53911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核心业务闭环：任务</a:t>
            </a:r>
            <a:r>
              <a:rPr lang="en-US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告警</a:t>
            </a:r>
            <a:r>
              <a:rPr lang="en-US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影像</a:t>
            </a:r>
            <a:endParaRPr lang="zh-CN" sz="27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71500" y="1066800"/>
            <a:ext cx="571500" cy="28575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21" name="圆角矩形 20"/>
          <p:cNvSpPr/>
          <p:nvPr/>
        </p:nvSpPr>
        <p:spPr>
          <a:xfrm>
            <a:off x="381000" y="1428750"/>
            <a:ext cx="3695700" cy="4381500"/>
          </a:xfrm>
          <a:prstGeom prst="roundRect">
            <a:avLst>
              <a:gd name="adj" fmla="val 257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" name="圆角矩形 21"/>
          <p:cNvSpPr/>
          <p:nvPr/>
        </p:nvSpPr>
        <p:spPr>
          <a:xfrm>
            <a:off x="571500" y="16192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695325" y="1695450"/>
            <a:ext cx="1047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</a:t>
            </a:r>
            <a:endParaRPr 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1009650" y="1676400"/>
            <a:ext cx="762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任务闭环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571500" y="2114550"/>
            <a:ext cx="3314700" cy="781050"/>
          </a:xfrm>
          <a:prstGeom prst="roundRect">
            <a:avLst>
              <a:gd name="adj" fmla="val 7317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6" name="圆角矩形 25"/>
          <p:cNvSpPr/>
          <p:nvPr/>
        </p:nvSpPr>
        <p:spPr>
          <a:xfrm>
            <a:off x="704850" y="2247900"/>
            <a:ext cx="466725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781050" y="2286000"/>
            <a:ext cx="3143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已下发</a:t>
            </a:r>
            <a:endParaRPr lang="zh-CN" sz="8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1209675" y="2286000"/>
            <a:ext cx="1047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1352550" y="2247900"/>
            <a:ext cx="466725" cy="209550"/>
          </a:xfrm>
          <a:prstGeom prst="roundRect">
            <a:avLst>
              <a:gd name="adj" fmla="val 18182"/>
            </a:avLst>
          </a:prstGeom>
          <a:solidFill>
            <a:srgbClr val="3D7BD9"/>
          </a:solidFill>
        </p:spPr>
        <p:txBody>
          <a:bodyPr/>
          <a:p/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1428750" y="2286000"/>
            <a:ext cx="3143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执行中</a:t>
            </a:r>
            <a:endParaRPr lang="zh-CN" sz="8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1857375" y="2286000"/>
            <a:ext cx="1047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2000250" y="2247900"/>
            <a:ext cx="466725" cy="209550"/>
          </a:xfrm>
          <a:prstGeom prst="roundRect">
            <a:avLst>
              <a:gd name="adj" fmla="val 18182"/>
            </a:avLst>
          </a:prstGeom>
          <a:solidFill>
            <a:srgbClr val="5BA854"/>
          </a:solidFill>
        </p:spPr>
        <p:txBody>
          <a:bodyPr/>
          <a:p/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2076450" y="2286000"/>
            <a:ext cx="3143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已完成</a:t>
            </a:r>
            <a:endParaRPr lang="zh-CN" sz="8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704850" y="2571750"/>
            <a:ext cx="3048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状态机四态推进</a:t>
            </a:r>
            <a:r>
              <a:rPr lang="en-US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进度条</a:t>
            </a:r>
            <a:r>
              <a:rPr lang="en-US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0→50→100 · </a:t>
            </a: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回执时间轴</a:t>
            </a:r>
            <a:endParaRPr lang="zh-CN" sz="8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571500" y="3028950"/>
            <a:ext cx="33147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值班员建单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设备三阶段回执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平台按状态机推进。</a:t>
            </a:r>
            <a:r>
              <a:rPr lang="en-US" sz="90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已下发</a:t>
            </a:r>
            <a:r>
              <a:rPr lang="en-US" sz="90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"≠"</a:t>
            </a:r>
            <a:r>
              <a:rPr lang="zh-CN" sz="90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执行中</a:t>
            </a:r>
            <a:r>
              <a:rPr lang="en-US" sz="90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只有收到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STARTED 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回执才确认设备真在执行。</a:t>
            </a:r>
            <a:endParaRPr lang="zh-CN" sz="9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571500" y="3790950"/>
            <a:ext cx="33147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UC-12 / UC-13 / UC-04</a:t>
            </a:r>
            <a:endParaRPr lang="en-US"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4248150" y="1428750"/>
            <a:ext cx="3695700" cy="4381500"/>
          </a:xfrm>
          <a:prstGeom prst="roundRect">
            <a:avLst>
              <a:gd name="adj" fmla="val 257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8" name="圆角矩形 37"/>
          <p:cNvSpPr/>
          <p:nvPr/>
        </p:nvSpPr>
        <p:spPr>
          <a:xfrm>
            <a:off x="4438650" y="16192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4552950" y="1695450"/>
            <a:ext cx="123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4876800" y="1676400"/>
            <a:ext cx="762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告警闭环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4438650" y="2114550"/>
            <a:ext cx="3314700" cy="762000"/>
          </a:xfrm>
          <a:prstGeom prst="roundRect">
            <a:avLst>
              <a:gd name="adj" fmla="val 7500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42" name="圆角矩形 41"/>
          <p:cNvSpPr/>
          <p:nvPr/>
        </p:nvSpPr>
        <p:spPr>
          <a:xfrm>
            <a:off x="4572000" y="224790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D9534F"/>
          </a:solidFill>
        </p:spPr>
        <p:txBody>
          <a:bodyPr/>
          <a:p/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4648200" y="2286000"/>
            <a:ext cx="2095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产生</a:t>
            </a:r>
            <a:endParaRPr lang="zh-CN" sz="8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4972050" y="2286000"/>
            <a:ext cx="1047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5114925" y="224790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5191125" y="2286000"/>
            <a:ext cx="2095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入库</a:t>
            </a:r>
            <a:endParaRPr lang="zh-CN" sz="8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5514975" y="2286000"/>
            <a:ext cx="1047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5657850" y="224790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3D7BD9"/>
          </a:solidFill>
        </p:spPr>
        <p:txBody>
          <a:bodyPr/>
          <a:p/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5734050" y="2286000"/>
            <a:ext cx="2095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检索</a:t>
            </a:r>
            <a:endParaRPr lang="zh-CN" sz="8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6057900" y="2286000"/>
            <a:ext cx="1047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6200775" y="224790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5BA854"/>
          </a:solidFill>
        </p:spPr>
        <p:txBody>
          <a:bodyPr/>
          <a:p/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6276975" y="2286000"/>
            <a:ext cx="2095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处置</a:t>
            </a:r>
            <a:endParaRPr lang="zh-CN" sz="8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4572000" y="2552700"/>
            <a:ext cx="3048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状态过滤</a:t>
            </a:r>
            <a:r>
              <a:rPr lang="en-US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多条件任意组合</a:t>
            </a:r>
            <a:r>
              <a:rPr lang="en-US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批量处置联动复核任务</a:t>
            </a:r>
            <a:endParaRPr lang="zh-CN" sz="8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4438650" y="3009900"/>
            <a:ext cx="33147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多条件检索（状态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设备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类型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级别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时间）走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MongoDB 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动态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Criteria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；聚合统计走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ES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。批量处置勾选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条自动生成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条复核任务。</a:t>
            </a:r>
            <a:endParaRPr lang="zh-CN" sz="9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4438650" y="3771900"/>
            <a:ext cx="33147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UC-14 / UC-15 / UC-16</a:t>
            </a:r>
            <a:endParaRPr lang="en-US"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8115300" y="1428750"/>
            <a:ext cx="3695700" cy="4381500"/>
          </a:xfrm>
          <a:prstGeom prst="roundRect">
            <a:avLst>
              <a:gd name="adj" fmla="val 257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7" name="圆角矩形 56"/>
          <p:cNvSpPr/>
          <p:nvPr/>
        </p:nvSpPr>
        <p:spPr>
          <a:xfrm>
            <a:off x="8305800" y="16192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8401050" y="1695450"/>
            <a:ext cx="1619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</a:t>
            </a:r>
            <a:endParaRPr 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8743950" y="1676400"/>
            <a:ext cx="762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影像归档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8305800" y="2114550"/>
            <a:ext cx="3314700" cy="762000"/>
          </a:xfrm>
          <a:prstGeom prst="roundRect">
            <a:avLst>
              <a:gd name="adj" fmla="val 7500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61" name="圆角矩形 60"/>
          <p:cNvSpPr/>
          <p:nvPr/>
        </p:nvSpPr>
        <p:spPr>
          <a:xfrm>
            <a:off x="8439150" y="2247900"/>
            <a:ext cx="571500" cy="209550"/>
          </a:xfrm>
          <a:prstGeom prst="roundRect">
            <a:avLst>
              <a:gd name="adj" fmla="val 18182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8515350" y="2286000"/>
            <a:ext cx="4191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设备直传</a:t>
            </a:r>
            <a:endParaRPr lang="zh-CN" sz="8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9048750" y="2286000"/>
            <a:ext cx="1047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9191625" y="2247900"/>
            <a:ext cx="676275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9267825" y="2286000"/>
            <a:ext cx="523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HDFS </a:t>
            </a:r>
            <a:r>
              <a:rPr lang="zh-CN" sz="8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存储</a:t>
            </a:r>
            <a:endParaRPr lang="zh-CN" sz="8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9906000" y="2286000"/>
            <a:ext cx="1047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10048875" y="2247900"/>
            <a:ext cx="1019175" cy="209550"/>
          </a:xfrm>
          <a:prstGeom prst="roundRect">
            <a:avLst>
              <a:gd name="adj" fmla="val 18182"/>
            </a:avLst>
          </a:prstGeom>
          <a:solidFill>
            <a:srgbClr val="3D7BD9"/>
          </a:solidFill>
        </p:spPr>
        <p:txBody>
          <a:bodyPr/>
          <a:p/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10125075" y="2286000"/>
            <a:ext cx="8667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MongoDB </a:t>
            </a:r>
            <a:r>
              <a:rPr lang="zh-CN" sz="8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元数据</a:t>
            </a:r>
            <a:endParaRPr lang="zh-CN" sz="8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8439150" y="2552700"/>
            <a:ext cx="3048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fileId </a:t>
            </a: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关联</a:t>
            </a:r>
            <a:r>
              <a:rPr lang="en-US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列表</a:t>
            </a:r>
            <a:r>
              <a:rPr lang="en-US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预览</a:t>
            </a:r>
            <a:r>
              <a:rPr lang="en-US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下载</a:t>
            </a:r>
            <a:r>
              <a:rPr lang="en-US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设备直传避免压垮</a:t>
            </a:r>
            <a:r>
              <a:rPr lang="en-US" sz="8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MQ</a:t>
            </a:r>
            <a:endParaRPr lang="en-US" sz="8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8305800" y="3009900"/>
            <a:ext cx="33147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影像文件存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HDFS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、元数据存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MongoDB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，通过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fileId 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关联；下载时业务服务从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HDFS 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读取。</a:t>
            </a:r>
            <a:r>
              <a:rPr lang="zh-CN" sz="90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影像不入</a:t>
            </a:r>
            <a:r>
              <a:rPr lang="en-US" sz="90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 MQ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是本项目最重要的设计之一。</a:t>
            </a:r>
            <a:endParaRPr lang="zh-CN" sz="9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8305800" y="3771900"/>
            <a:ext cx="33147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UC-03 · </a:t>
            </a:r>
            <a:r>
              <a:rPr lang="zh-CN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影像文件通道设计</a:t>
            </a:r>
            <a:r>
              <a:rPr lang="en-US" sz="8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.md</a:t>
            </a:r>
            <a:endParaRPr lang="en-US" sz="8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571500" y="6276975"/>
            <a:ext cx="11049000" cy="3429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762000" y="6372225"/>
            <a:ext cx="5076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★ </a:t>
            </a:r>
            <a:r>
              <a:rPr lang="zh-CN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三大闭环：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三类核心业务都遵循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消息中间件解耦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多存储协同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状态机推进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的一致模式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11325225" y="6657975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10 / 15</a:t>
            </a:r>
            <a:endParaRPr lang="en-US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 descr="&lt;Slide&gt;&#10;  {/* 全幅浅蓝底 */}&#10;  &lt;Box style={{ position: 'absolute', top: 0, left: 0, width: '100%', height: '100%', background: '#F0F5FC' }} /&gt;&#10;&#10;  {/* 左侧深蓝装饰条 */}&#10;  &lt;Box style={{ position: 'absolute', top: 0, left: 0, width: 16, height: '100%', background: '#1E4FA8' }} /&gt;&#10;&#10;  {/* 顶部黄色细线 */}&#10;  &lt;Box style={{ position: 'absolute', top: 180, left: 100, width: 60, height: 4, background: '#FFC107' }} /&gt;&#10;&#10;  {/* 大章节数字 */}&#10;  &lt;Text style={{ position: 'absolute', top: 120, left: 100, fontSize: 220, color: '#1E4FA8', fontWeight: 'bold', lineHeight: 1, fontFamily: 'Times New Roman' }}&gt;&#10;    04&#10;  &lt;/Text&gt;&#10;&#10;  {/* 章节小标 */}&#10;  &lt;Text style={{ position: 'absolute', top: 380, left: 100, fontSize: 18, color: '#3D7BD9', letterSpacing: 8, fontWeight: 'bold' }}&gt;&#10;    PART FOUR&#10;  &lt;/Text&gt;&#10;&#10;  {/* 章节主标 */}&#10;  &lt;Text style={{ position: 'absolute', top: 410, left: 100, fontSize: 48, color: '#0E3F8C', fontWeight: 'bold' }}&gt;&#10;    关键设计与工程亮点&#10;  &lt;/Text&gt;&#10;&#10;  {/* 章节副标 */}&#10;  &lt;Box style={{ position: 'absolute', top: 480, left: 100, flexDirection: 'column', gap: 12 }}&gt;&#10;    &lt;Text style={{ fontSize: 18, color: '#4A5568', lineHeight: 1.6 }}&gt;&#10;      三大设计决策 ——  架构背后的工程取舍&#10;    &lt;/Text&gt;&#10;    &lt;Text style={{ fontSize: 18, color: '#4A5568', lineHeight: 1.6 }}&gt;&#10;      踩过的坑 ——  真实问题 · 排查过程 · 解法&#10;    &lt;/Text&gt;&#10;  &lt;/Box&gt;&#10;&#10;  {/* 右侧装饰 */}&#10;  &lt;Text style={{ position: 'absolute', top: 280, right: 80, fontSize: 220, color: '#1E4FA8', opacity: 0.08, fontWeight: 'bold', lineHeight: 1 }}&gt;&#10;    创&#10;  &lt;/Text&gt;&#10;&#10;  {/* 蓝色分割条 */}&#10;  &lt;Box style={{ position: 'absolute', top: 600, left: 100, width: 280, height: 4, background: '#1E4FA8' }} /&gt;&#10;&#10;  {/* 页脚 */}&#10;  &lt;Text style={{ position: 'absolute', bottom: 30, right: 50, fontSize: 14, color: '#8B97A8' }}&gt;&#10;    11 / 15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矩形 7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5FC"/>
          </a:solidFill>
        </p:spPr>
        <p:txBody>
          <a:bodyPr/>
          <a:p/>
        </p:txBody>
      </p:sp>
      <p:sp>
        <p:nvSpPr>
          <p:cNvPr id="77" name="矩形 76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78" name="矩形 77"/>
          <p:cNvSpPr/>
          <p:nvPr/>
        </p:nvSpPr>
        <p:spPr>
          <a:xfrm>
            <a:off x="952500" y="1714500"/>
            <a:ext cx="571500" cy="38100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952500" y="1143000"/>
            <a:ext cx="2095500" cy="2514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04</a:t>
            </a:r>
            <a:endParaRPr lang="en-US" sz="16500" b="1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952500" y="3619500"/>
            <a:ext cx="16954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6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PART FOUR</a:t>
            </a:r>
            <a:endParaRPr lang="en-US" sz="1350" b="1" spc="60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952500" y="3905250"/>
            <a:ext cx="41148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关键设计与工程亮点</a:t>
            </a:r>
            <a:endParaRPr lang="zh-CN" sz="36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952500" y="4572000"/>
            <a:ext cx="320992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三大设计决策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—— 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架构背后的工程取舍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952500" y="5019675"/>
            <a:ext cx="320992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踩过的坑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—— 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真实问题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排查过程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解法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9334500" y="2667000"/>
            <a:ext cx="2095500" cy="2514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0" b="1">
                <a:solidFill>
                  <a:srgbClr val="1E4FA8">
                    <a:alpha val="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创</a:t>
            </a:r>
            <a:endParaRPr lang="zh-CN" sz="16500" b="1">
              <a:solidFill>
                <a:srgbClr val="1E4FA8">
                  <a:alpha val="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952500" y="5715000"/>
            <a:ext cx="2667000" cy="381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11258550" y="64103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11 / 15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 descr="&lt;Slide&gt;&#10;  {/* 白底 */}&#10;  &lt;Box style={{ position: 'absolute', top: 0, left: 0, width: '100%', height: '100%', background: '#FFFFFF' }} /&gt;&#10;&#10;  {/* 顶部细深蓝条 */}&#10;  &lt;Box style={{ position: 'absolute', top: 0, left: 0, width: '100%', height: 8, background: '#1E4FA8' }} /&gt;&#10;&#10;  {/* 标题区 */}&#10;  &lt;Text style={{ position: 'absolute', top: 30, left: 60, fontSize: 18, color: '#3D7BD9', letterSpacing: 4, fontWeight: 'bold' }}&gt;&#10;    04 · 关键设计与工程亮点&#10;  &lt;/Text&gt;&#10;  &lt;Text style={{ position: 'absolute', top: 58, left: 60, fontSize: 36, color: '#0E3F8C', fontWeight: 'bold' }}&gt;&#10;    三大关键设计决策&#10;  &lt;/Text&gt;&#10;  &lt;Box style={{ position: 'absolute', top: 112, left: 60, width: 60, height: 3, background: '#FFC107' }} /&gt;&#10;&#10;  {/* 左侧巨型数字 &quot;3&quot; 锚点 */}&#10;  &lt;Box style={{ position: 'absolute', top: 150, left: 50, width: 360, height: 460, flexDirection: 'column', alignItems: 'center', justifyContent: 'center', background: '#0E3F8C', borderRadius: 12 }}&gt;&#10;    &lt;Text style={{ fontSize: 280, color: '#FFFFFF', fontWeight: 'bold', lineHeight: 1, fontFamily: 'Times New Roman' }}&gt;3&lt;/Text&gt;&#10;    &lt;Box style={{ width: 80, height: 4, background: '#FFC107', marginTop: 20, marginBottom: 16 }} /&gt;&#10;    &lt;Text style={{ fontSize: 22, color: '#FFC107', fontWeight: 'bold' }}&gt;KEY DESIGN&lt;/Text&gt;&#10;    &lt;Text style={{ fontSize: 16, color: '#A8C0E0', marginTop: 4 }}&gt;DECISIONS&lt;/Text&gt;&#10;  &lt;/Box&gt;&#10;&#10;  {/* 右侧 3 项决策 */}&#10;  &lt;Box style={{ position: 'absolute', top: 150, left: 430, width: 800, height: 460, flexDirection: 'column', gap: 14 }}&gt;&#10;&#10;    {/* 设计 1 */}&#10;    &lt;Box style={{ flex: 1, background: '#FFFFFF', borderRadius: 8, padding: 16, border: '2px solid #1E4FA8', flexDirection: 'column' }}&gt;&#10;      &lt;Box style={{ flexDirection: 'row', alignItems: 'center', gap: 12, marginBottom: 8 }}&gt;&#10;        &lt;Box style={{ width: 30, height: 30, borderRadius: 15, background: '#1E4FA8', alignItems: 'center', justifyContent: 'center' }}&gt;&#10;          &lt;Text style={{ fontSize: 16, color: '#FFFFFF', fontWeight: 'bold' }}&gt;1&lt;/Text&gt;&#10;        &lt;/Box&gt;&#10;        &lt;Text style={{ fontSize: 18, color: '#0E3F8C', fontWeight: 'bold' }}&gt;元数据走 Kafka，文件走 HDFS&lt;/Text&gt;&#10;      &lt;/Box&gt;&#10;      &lt;Text style={{ fontSize: 13, color: '#1A2230', lineHeight: 1.5 }}&gt;&#10;        &lt;span style={{ fontWeight: 'bold' }}&gt;动机：&lt;/span&gt;影像是 MB 级大文件，走消息会拖垮 MQ。&#10;        &lt;span style={{ fontWeight: 'bold', marginLeft: 8 }}&gt;实现：&lt;/span&gt;设备直传 HDFS，元数据走 Kafka，fileId 关联。&#10;        &lt;span style={{ fontWeight: 'bold', marginLeft: 8, color: '#D9534F' }}&gt;收益：&lt;/span&gt;MQ 不再因大文件卡顿，影像归档独立扩展。&#10;      &lt;/Text&gt;&#10;    &lt;/Box&gt;&#10;&#10;    {/* 设计 2 */}&#10;    &lt;Box style={{ flex: 1, background: '#FFFFFF', borderRadius: 8, padding: 16, border: '2px solid #1E4FA8', flexDirection: 'column' }}&gt;&#10;      &lt;Box style={{ flexDirection: 'row', alignItems: 'center', gap: 12, marginBottom: 8 }}&gt;&#10;        &lt;Box style={{ width: 30, height: 30, borderRadius: 15, background: '#1E4FA8', alignItems: 'center', justifyContent: 'center' }}&gt;&#10;          &lt;Text style={{ fontSize: 16, color: '#FFFFFF', fontWeight: 'bold' }}&gt;2&lt;/Text&gt;&#10;        &lt;/Box&gt;&#10;        &lt;Text style={{ fontSize: 18, color: '#0E3F8C', fontWeight: 'bold' }}&gt;任务台账与回执流水分离（CQRS 简化）&lt;/Text&gt;&#10;      &lt;/Box&gt;&#10;      &lt;Text style={{ fontSize: 13, color: '#1A2230', lineHeight: 1.5 }}&gt;&#10;        &lt;span style={{ fontWeight: 'bold' }}&gt;动机：&lt;/span&gt;任务频繁更新单个文档（进度），回执是追加型时间序列。&#10;        &lt;span style={{ fontWeight: 'bold', marginLeft: 8 }}&gt;实现：&lt;/span&gt;task 用普通集合、task_log 用时序集合（7 天 TTL）。&#10;        &lt;span style={{ fontWeight: 'bold', marginLeft: 8, color: '#D9534F' }}&gt;收益：&lt;/span&gt;读写模型各取所长，回执自动过期。&#10;      &lt;/Text&gt;&#10;    &lt;/Box&gt;&#10;&#10;    {/* 设计 3 */}&#10;    &lt;Box style={{ flex: 1, background: '#FFFFFF', borderRadius: 8, padding: 16, border: '2px solid #1E4FA8', flexDirection: 'column' }}&gt;&#10;      &lt;Box style={{ flexDirection: 'row', alignItems: 'center', gap: 12, marginBottom: 8 }}&gt;&#10;        &lt;Box style={{ width: 30, height: 30, borderRadius: 15, background: '#1E4FA8', alignItems: 'center', justifyContent: 'center' }}&gt;&#10;          &lt;Text style={{ fontSize: 16, color: '#FFFFFF', fontWeight: 'bold' }}&gt;3&lt;/Text&gt;&#10;        &lt;/Box&gt;&#10;        &lt;Text style={{ fontSize: 18, color: '#0E3F8C', fontWeight: 'bold' }}&gt;MongoDB 权威 + ES 检索副本（有意双写）&lt;/Text&gt;&#10;      &lt;/Box&gt;&#10;      &lt;Text style={{ fontSize: 13, color: '#1A2230', lineHeight: 1.5 }}&gt;&#10;        &lt;span style={{ fontWeight: 'bold' }}&gt;动机：&lt;/span&gt;文档数据库不擅长聚合统计。&#10;        &lt;span style={{ fontWeight: 'bold', marginLeft: 8 }}&gt;实现：&lt;/span&gt;MongoDB 存权威明细，ES 存检索副本。&#10;        &lt;span style={{ fontWeight: 'bold', marginLeft: 8, color: '#D9534F' }}&gt;收益：&lt;/span&gt;以 Mongo 为准，ES 可随时 reindex 重建；聚合能力增强。&#10;      &lt;/Text&gt;&#10;    &lt;/Box&gt;&#10;&#10;  &lt;/Box&gt;&#10;&#10;  {/* 底部强调条 */}&#10;  &lt;Box style={{ position: 'absolute', bottom: 25, left: 60, right: 60, height: 36, background: '#F0F5FC', borderRadius: 4, padding: '0 20', flexDirection: 'row', alignItems: 'center', justifyContent: 'space-between' }}&gt;&#10;    &lt;Text style={{ fontSize: 13, color: '#1A2230' }}&gt;&#10;      &lt;span style={{ fontWeight: 'bold', color: '#0E3F8C' }}&gt;★ 设计原则：&lt;/span&gt; 动机 + 实现 + 收益 —— 每个决策都回答&quot;为什么这么做、怎么做的、得到什么&quot;&#10;    &lt;/Text&gt;&#10;  &lt;/Box&gt;&#10;&#10;  {/* 页脚 */}&#10;  &lt;Text style={{ position: 'absolute', bottom: 6, right: 50, fontSize: 12, color: '#8B97A8' }}&gt;&#10;    12 / 15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 8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89" name="矩形 8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571500" y="285750"/>
            <a:ext cx="24669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3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04 · </a:t>
            </a:r>
            <a:r>
              <a:rPr lang="zh-CN" sz="1350" b="1" spc="3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关键设计与工程亮点</a:t>
            </a:r>
            <a:endParaRPr lang="zh-CN" sz="1350" b="1" spc="30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571500" y="552450"/>
            <a:ext cx="27432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三大关键设计决策</a:t>
            </a:r>
            <a:endParaRPr lang="zh-CN" sz="27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571500" y="1066800"/>
            <a:ext cx="571500" cy="28575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93" name="圆角矩形 92"/>
          <p:cNvSpPr/>
          <p:nvPr/>
        </p:nvSpPr>
        <p:spPr>
          <a:xfrm>
            <a:off x="476250" y="1428750"/>
            <a:ext cx="3429000" cy="4381500"/>
          </a:xfrm>
          <a:prstGeom prst="roundRect">
            <a:avLst>
              <a:gd name="adj" fmla="val 3333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1524000" y="1590675"/>
            <a:ext cx="1333500" cy="3200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3</a:t>
            </a:r>
            <a:endParaRPr lang="en-US" sz="210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1809750" y="4981575"/>
            <a:ext cx="762000" cy="38100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1552575" y="5172075"/>
            <a:ext cx="12858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KEY DESIGN</a:t>
            </a:r>
            <a:endParaRPr lang="en-US" sz="1650" b="1">
              <a:solidFill>
                <a:srgbClr val="FFC10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1781175" y="5467350"/>
            <a:ext cx="8191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DECISIONS</a:t>
            </a:r>
            <a:endParaRPr lang="en-US" sz="1200">
              <a:solidFill>
                <a:srgbClr val="A8C0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圆角矩形 97"/>
          <p:cNvSpPr/>
          <p:nvPr/>
        </p:nvSpPr>
        <p:spPr>
          <a:xfrm>
            <a:off x="4095750" y="1428750"/>
            <a:ext cx="76200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99" name="圆角矩形 98"/>
          <p:cNvSpPr/>
          <p:nvPr/>
        </p:nvSpPr>
        <p:spPr>
          <a:xfrm>
            <a:off x="4248150" y="15811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4343400" y="1628775"/>
            <a:ext cx="95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4648200" y="1619250"/>
            <a:ext cx="2438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元数据走</a:t>
            </a: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Kafka</a:t>
            </a: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，文件走</a:t>
            </a: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HDFS</a:t>
            </a:r>
            <a:endParaRPr lang="en-US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4248150" y="1943100"/>
            <a:ext cx="73152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动机：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影像是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MB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级大文件，走消息会拖垮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MQ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zh-CN" sz="9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实现：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设备直传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HDFS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，元数据走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Kafka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fileId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关联。</a:t>
            </a:r>
            <a:r>
              <a:rPr lang="zh-CN" sz="975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收益：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MQ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不再因大文件卡顿，影像归档独立扩展。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圆角矩形 102"/>
          <p:cNvSpPr/>
          <p:nvPr/>
        </p:nvSpPr>
        <p:spPr>
          <a:xfrm>
            <a:off x="4095750" y="2933700"/>
            <a:ext cx="76200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04" name="圆角矩形 103"/>
          <p:cNvSpPr/>
          <p:nvPr/>
        </p:nvSpPr>
        <p:spPr>
          <a:xfrm>
            <a:off x="4248150" y="30861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4343400" y="3133725"/>
            <a:ext cx="95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4648200" y="3124200"/>
            <a:ext cx="3105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任务台账与回执流水分离（</a:t>
            </a: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CQRS </a:t>
            </a: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简化）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4248150" y="3448050"/>
            <a:ext cx="73152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动机：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任务频繁更新单个文档（进度），回执是追加型时间序列。</a:t>
            </a:r>
            <a:r>
              <a:rPr lang="zh-CN" sz="9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实现：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task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用普通集合、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task_log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用时序集合（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7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天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TTL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r>
              <a:rPr lang="zh-CN" sz="975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收益：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读写模型各取所长，回执自动过期。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4095750" y="4438650"/>
            <a:ext cx="76200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09" name="圆角矩形 108"/>
          <p:cNvSpPr/>
          <p:nvPr/>
        </p:nvSpPr>
        <p:spPr>
          <a:xfrm>
            <a:off x="4248150" y="45910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4343400" y="4638675"/>
            <a:ext cx="95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4648200" y="4629150"/>
            <a:ext cx="3476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MongoDB </a:t>
            </a: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权威</a:t>
            </a: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+ ES </a:t>
            </a: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检索副本（有意双写）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4248150" y="4953000"/>
            <a:ext cx="73152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动机：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文档数据库不擅长聚合统计。</a:t>
            </a:r>
            <a:r>
              <a:rPr lang="zh-CN" sz="9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实现：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MongoDB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存权威明细，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ES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存检索副本。</a:t>
            </a:r>
            <a:r>
              <a:rPr lang="zh-CN" sz="975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收益：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Mongo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为准，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ES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可随时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reindex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重建；聚合能力增强。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571500" y="6276975"/>
            <a:ext cx="11049000" cy="3429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762000" y="6372225"/>
            <a:ext cx="5172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★ </a:t>
            </a:r>
            <a:r>
              <a:rPr lang="zh-CN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设计原则：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动机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收益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每个决策都回答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为什么这么做、怎么做的、得到什么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11325225" y="6657975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12 / 15</a:t>
            </a:r>
            <a:endParaRPr lang="en-US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3" name="" descr="&lt;Slide&gt;&#10;  {/* 白底 */}&#10;  &lt;Box style={{ position: 'absolute', top: 0, left: 0, width: '100%', height: '100%', background: '#FFFFFF' }} /&gt;&#10;&#10;  {/* 顶部细深蓝条 */}&#10;  &lt;Box style={{ position: 'absolute', top: 0, left: 0, width: '100%', height: 8, background: '#1E4FA8' }} /&gt;&#10;&#10;  {/* 标题区 */}&#10;  &lt;Text style={{ position: 'absolute', top: 30, left: 60, fontSize: 18, color: '#3D7BD9', letterSpacing: 4, fontWeight: 'bold' }}&gt;&#10;    03 · 压测与调优&#10;  &lt;/Text&gt;&#10;  &lt;Text style={{ position: 'absolute', top: 58, left: 60, fontSize: 36, color: '#0E3F8C', fontWeight: 'bold' }}&gt;&#10;    分区数对照（20 万条）：趋势可见，但读数要打折&#10;  &lt;/Text&gt;&#10;  &lt;Box style={{ position: 'absolute', top: 112, left: 60, width: 60, height: 3, background: '#FFC107' }} /&gt;&#10;&#10;  {/* 数据表 */}&#10;  &lt;Box style={{ position: 'absolute', top: 148, left: 60, width: 1160, flexDirection: 'column' }}&gt;&#10;    &lt;Box style={{ flexDirection: 'row', background: '#0E3F8C', borderRadius: 6, paddingTop: 13, paddingBottom: 13 }}&gt;&#10;      &lt;Text style={{ width: 200, fontSize: 16, color: '#FFFFFF', fontWeight: 'bold', paddingLeft: 20 }}&gt;分区数&lt;/Text&gt;&#10;      &lt;Text style={{ flex: 1, fontSize: 16, color: '#FFFFFF', fontWeight: 'bold', textAlign: 'right' }}&gt;生产（条/秒）&lt;/Text&gt;&#10;      &lt;Text style={{ flex: 1, fontSize: 16, color: '#FFFFFF', fontWeight: 'bold', textAlign: 'right' }}&gt;生产（MB/s）&lt;/Text&gt;&#10;      &lt;Text style={{ flex: 1, fontSize: 16, color: '#FFC107', fontWeight: 'bold', textAlign: 'right' }}&gt;p95（ms）&lt;/Text&gt;&#10;      &lt;Text style={{ flex: 1, fontSize: 16, color: '#FFFFFF', fontWeight: 'bold', textAlign: 'right', paddingRight: 20 }}&gt;消费（条/秒）&lt;/Text&gt;&#10;    &lt;/Box&gt;&#10;&#10;    &lt;Box style={{ flexDirection: 'row', alignItems: 'center', height: 74, borderBottom: '1px solid #D6DCE5' }}&gt;&#10;      &lt;Text style={{ width: 200, fontSize: 30, color: '#8B97A8', fontWeight: 'bold', paddingLeft: 20, fontFamily: 'Times New Roman' }}&gt;1&lt;/Text&gt;&#10;      &lt;Text style={{ flex: 1, fontSize: 24, color: '#4A5568', textAlign: 'right', fontFamily: 'Times New Roman' }}&gt;203,045&lt;/Text&gt;&#10;      &lt;Text style={{ flex: 1, fontSize: 24, color: '#4A5568', textAlign: 'right', fontFamily: 'Times New Roman' }}&gt;58.09&lt;/Text&gt;&#10;      &lt;Text style={{ flex: 1, fontSize: 24, color: '#D9534F', textAlign: 'right', fontWeight: 'bold', fontFamily: 'Times New Roman' }}&gt;327&lt;/Text&gt;&#10;      &lt;Text style={{ flex: 1, fontSize: 24, color: '#4A5568', textAlign: 'right', fontFamily: 'Times New Roman', paddingRight: 20 }}&gt;58,685&lt;/Text&gt;&#10;    &lt;/Box&gt;&#10;&#10;    &lt;Box style={{ flexDirection: 'row', alignItems: 'center', height: 74, background: '#F0F5FC', borderBottom: '1px solid #D6DCE5' }}&gt;&#10;      &lt;Text style={{ width: 200, fontSize: 30, color: '#1E4FA8', fontWeight: 'bold', paddingLeft: 20, fontFamily: 'Times New Roman' }}&gt;3&lt;/Text&gt;&#10;      &lt;Text style={{ flex: 1, fontSize: 24, color: '#0E3F8C', fontWeight: 'bold', textAlign: 'right', fontFamily: 'Times New Roman' }}&gt;313,479&lt;/Text&gt;&#10;      &lt;Text style={{ flex: 1, fontSize: 24, color: '#0E3F8C', fontWeight: 'bold', textAlign: 'right', fontFamily: 'Times New Roman' }}&gt;89.69&lt;/Text&gt;&#10;      &lt;Text style={{ flex: 1, fontSize: 24, color: '#1E4FA8', fontWeight: 'bold', textAlign: 'right', fontFamily: 'Times New Roman' }}&gt;29&lt;/Text&gt;&#10;      &lt;Text style={{ flex: 1, fontSize: 24, color: '#0E3F8C', fontWeight: 'bold', textAlign: 'right', fontFamily: 'Times New Roman', paddingRight: 20 }}&gt;58,979&lt;/Text&gt;&#10;    &lt;/Box&gt;&#10;  &lt;/Box&gt;&#10;&#10;  {/* 两张洞察卡 */}&#10;  &lt;Box style={{ position: 'absolute', top: 380, left: 60, width: 1160, height: 206, flexDirection: 'row', gap: 16 }}&gt;&#10;&#10;    &lt;Box style={{ flex: 1, background: '#FFFFFF', borderRadius: 8, padding: 18, border: '2px solid #1E4FA8', flexDirection: 'column' }}&gt;&#10;      &lt;Box style={{ flexDirection: 'row', alignItems: 'center', marginBottom: 10 }}&gt;&#10;        &lt;Box style={{ width: 26, height: 26, borderRadius: 13, background: '#1E4FA8', alignItems: 'center', justifyContent: 'center', marginRight: 10 }}&gt;&#10;          &lt;Text style={{ fontSize: 14, color: '#FFFFFF', fontWeight: 'bold' }}&gt;1&lt;/Text&gt;&#10;        &lt;/Box&gt;&#10;        &lt;Text style={{ fontSize: 18, color: '#0E3F8C', fontWeight: 'bold' }}&gt;真实收益：生产吞吐 +54%，p95 延迟 −91%&lt;/Text&gt;&#10;      &lt;/Box&gt;&#10;      &lt;Text style={{ fontSize: 14, color: '#1A2230', lineHeight: 1.65 }}&gt;&#10;        3 分区把生产吞吐从 20.3 万提到 31.3 万条/秒，p95 从 &lt;b&gt;327 ms&lt;/b&gt; 降到 &lt;b&gt;29 ms&lt;/b&gt;。&#10;        单分区时所有请求排一条队，写入的尾部延迟被显著拖垮 —— 这是分区数最直接的价值。&#10;      &lt;/Text&gt;&#10;    &lt;/Box&gt;&#10;&#10;    &lt;Box style={{ flex: 1, background: '#FFFFFF', borderRadius: 8, padding: 18, border: '2px solid #D9534F', flexDirection: 'column' }}&gt;&#10;      &lt;Box style={{ flexDirection: 'row', alignItems: 'center', marginBottom: 10 }}&gt;&#10;        &lt;Box style={{ width: 26, height: 26, borderRadius: 13, background: '#D9534F', alignItems: 'center', justifyContent: 'center', marginRight: 10 }}&gt;&#10;          &lt;Text style={{ fontSize: 14, color: '#FFFFFF', fontWeight: 'bold' }}&gt;2&lt;/Text&gt;&#10;        &lt;/Box&gt;&#10;        &lt;Text style={{ fontSize: 18, color: '#D9534F', fontWeight: 'bold' }}&gt;陷阱：消费列&quot;几乎相同&quot;是测量伪影&lt;/Text&gt;&#10;      &lt;/Box&gt;&#10;      &lt;Text style={{ fontSize: 14, color: '#1A2230', lineHeight: 1.65 }}&gt;&#10;        58,685 与 58,979 看似&quot;分区对消费没影响&quot;，实则两列都被 &lt;b&gt;rebalance 固定开销&lt;/b&gt;（约 3.2 秒）主导 ——&#10;        20 万条的真实读取只需约 &lt;b&gt;0.18 秒&lt;/b&gt;，开销占了窗口的 94%。这个数字不可用于判断分区收益。&#10;      &lt;/Text&gt;&#10;    &lt;/Box&gt;&#10;&#10;  &lt;/Box&gt;&#10;&#10;  {/* 底部结论条 */}&#10;  &lt;Box style={{ position: 'absolute', bottom: 25, left: 60, right: 60, height: 40, background: '#F0F5FC', borderRadius: 4, padding: '0 20', flexDirection: 'row', alignItems: 'center', justifyContent: 'space-between' }}&gt;&#10;    &lt;Text style={{ fontSize: 13, color: '#1A2230' }}&gt;&#10;      &lt;span style={{ fontWeight: 'bold', color: '#0E3F8C' }}&gt;★ 结论：&lt;/span&gt;&#10;      小规模测试既受冷启动影响（1 分区是首轮）、又被固定开销污染 —— 要看清分区的真实收益，必须把量级提到千万条。&#10;    &lt;/Text&gt;&#10;    &lt;Text style={{ fontSize: 12, color: '#8B97A8' }}&gt;300 B/条 · acks=all · linger=0 · 无压缩&lt;/Text&gt;&#10;  &lt;/Box&gt;&#10;&#10;  {/* 页脚 */}&#10;  &lt;Text style={{ position: 'absolute', bottom: 6, right: 50, fontSize: 12, color: '#8B97A8' }}&gt;&#10;    08 / 13&#10;  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矩形 3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25" name="矩形 32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326" name="文本框 325" descr="{&quot;isTemplate&quot;:true,&quot;type&quot;:&quot;text&quot;}"/>
          <p:cNvSpPr txBox="1"/>
          <p:nvPr/>
        </p:nvSpPr>
        <p:spPr>
          <a:xfrm>
            <a:off x="571500" y="285750"/>
            <a:ext cx="1628775" cy="2095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1350" b="1" spc="3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04 · </a:t>
            </a:r>
            <a:r>
              <a:rPr lang="zh-CN" sz="1350" b="1" spc="3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关键设计与工程亮点</a:t>
            </a:r>
            <a:endParaRPr lang="zh-CN" sz="1350" b="1" spc="30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571500" y="552450"/>
            <a:ext cx="77343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分区数对照（</a:t>
            </a:r>
            <a:r>
              <a:rPr lang="en-US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20 </a:t>
            </a:r>
            <a:r>
              <a:rPr lang="zh-CN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万条）：趋势可见，但读数要打折</a:t>
            </a:r>
            <a:endParaRPr lang="zh-CN" sz="27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矩形 327"/>
          <p:cNvSpPr/>
          <p:nvPr/>
        </p:nvSpPr>
        <p:spPr>
          <a:xfrm>
            <a:off x="571500" y="1066800"/>
            <a:ext cx="571500" cy="28575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329" name="圆角矩形 328"/>
          <p:cNvSpPr/>
          <p:nvPr/>
        </p:nvSpPr>
        <p:spPr>
          <a:xfrm>
            <a:off x="571500" y="1409700"/>
            <a:ext cx="11049000" cy="438150"/>
          </a:xfrm>
          <a:prstGeom prst="roundRect">
            <a:avLst>
              <a:gd name="adj" fmla="val 13043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330" name="文本框 329" descr="{&quot;isTemplate&quot;:true,&quot;type&quot;:&quot;text&quot;}"/>
          <p:cNvSpPr txBox="1"/>
          <p:nvPr/>
        </p:nvSpPr>
        <p:spPr>
          <a:xfrm>
            <a:off x="571500" y="1533525"/>
            <a:ext cx="1905000" cy="190500"/>
          </a:xfrm>
          <a:prstGeom prst="rect">
            <a:avLst/>
          </a:prstGeom>
        </p:spPr>
        <p:txBody>
          <a:bodyPr wrap="none" lIns="142875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分区数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2476500" y="1533525"/>
            <a:ext cx="2238375" cy="19050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生产（条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秒）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4714875" y="1533525"/>
            <a:ext cx="2238375" cy="19050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生产（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MB/s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6953250" y="1533525"/>
            <a:ext cx="2238375" cy="19050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00" b="1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p95</a:t>
            </a:r>
            <a:r>
              <a:rPr lang="zh-CN" sz="1200" b="1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200" b="1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ms</a:t>
            </a:r>
            <a:r>
              <a:rPr lang="zh-CN" sz="1200" b="1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00" b="1">
              <a:solidFill>
                <a:srgbClr val="FFC10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9191625" y="1533525"/>
            <a:ext cx="2428875" cy="190500"/>
          </a:xfrm>
          <a:prstGeom prst="rect">
            <a:avLst/>
          </a:prstGeom>
        </p:spPr>
        <p:txBody>
          <a:bodyPr wrap="none" lIns="0" tIns="0" rIns="142875" bIns="0"/>
          <a:p>
            <a:pPr algn="r"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消费（条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秒）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5" name="任意多边形 334"/>
          <p:cNvSpPr/>
          <p:nvPr/>
        </p:nvSpPr>
        <p:spPr>
          <a:xfrm>
            <a:off x="571500" y="1847850"/>
            <a:ext cx="11049000" cy="704850"/>
          </a:xfrm>
          <a:custGeom>
            <a:avLst/>
            <a:gdLst/>
            <a:ahLst/>
            <a:cxnLst/>
            <a:pathLst>
              <a:path w="1160" h="74">
                <a:moveTo>
                  <a:pt x="0" y="73"/>
                </a:moveTo>
                <a:lnTo>
                  <a:pt x="1160" y="73"/>
                </a:lnTo>
                <a:lnTo>
                  <a:pt x="1160" y="74"/>
                </a:lnTo>
                <a:lnTo>
                  <a:pt x="0" y="74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571500" y="2028825"/>
            <a:ext cx="1905000" cy="342900"/>
          </a:xfrm>
          <a:prstGeom prst="rect">
            <a:avLst/>
          </a:prstGeom>
        </p:spPr>
        <p:txBody>
          <a:bodyPr wrap="none" lIns="142875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8B97A8"/>
                </a:solidFill>
                <a:latin typeface="Times New Roman" panose="02020603050405020304"/>
                <a:ea typeface="Times New Roman" panose="02020603050405020304"/>
              </a:rPr>
              <a:t>1</a:t>
            </a:r>
            <a:endParaRPr lang="en-US" sz="2250" b="1">
              <a:solidFill>
                <a:srgbClr val="8B97A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2476500" y="2057400"/>
            <a:ext cx="2238375" cy="276225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800">
                <a:solidFill>
                  <a:srgbClr val="4A5568"/>
                </a:solidFill>
                <a:latin typeface="Times New Roman" panose="02020603050405020304"/>
                <a:ea typeface="Times New Roman" panose="02020603050405020304"/>
              </a:rPr>
              <a:t>203,045</a:t>
            </a:r>
            <a:endParaRPr lang="en-US" sz="1800">
              <a:solidFill>
                <a:srgbClr val="4A556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4714875" y="2057400"/>
            <a:ext cx="2238375" cy="276225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800">
                <a:solidFill>
                  <a:srgbClr val="4A5568"/>
                </a:solidFill>
                <a:latin typeface="Times New Roman" panose="02020603050405020304"/>
                <a:ea typeface="Times New Roman" panose="02020603050405020304"/>
              </a:rPr>
              <a:t>58.09</a:t>
            </a:r>
            <a:endParaRPr lang="en-US" sz="1800">
              <a:solidFill>
                <a:srgbClr val="4A556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6953250" y="2057400"/>
            <a:ext cx="2238375" cy="276225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800" b="1">
                <a:solidFill>
                  <a:srgbClr val="D9534F"/>
                </a:solidFill>
                <a:latin typeface="Times New Roman" panose="02020603050405020304"/>
                <a:ea typeface="Times New Roman" panose="02020603050405020304"/>
              </a:rPr>
              <a:t>327</a:t>
            </a:r>
            <a:endParaRPr lang="en-US" sz="1800" b="1">
              <a:solidFill>
                <a:srgbClr val="D9534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9191625" y="2057400"/>
            <a:ext cx="2428875" cy="276225"/>
          </a:xfrm>
          <a:prstGeom prst="rect">
            <a:avLst/>
          </a:prstGeom>
        </p:spPr>
        <p:txBody>
          <a:bodyPr wrap="none" lIns="0" tIns="0" rIns="142875" bIns="0"/>
          <a:p>
            <a:pPr algn="r">
              <a:lnSpc>
                <a:spcPct val="100000"/>
              </a:lnSpc>
            </a:pPr>
            <a:r>
              <a:rPr lang="en-US" sz="1800">
                <a:solidFill>
                  <a:srgbClr val="4A5568"/>
                </a:solidFill>
                <a:latin typeface="Times New Roman" panose="02020603050405020304"/>
                <a:ea typeface="Times New Roman" panose="02020603050405020304"/>
              </a:rPr>
              <a:t>58,685</a:t>
            </a:r>
            <a:endParaRPr lang="en-US" sz="1800">
              <a:solidFill>
                <a:srgbClr val="4A556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41" name="矩形 340"/>
          <p:cNvSpPr/>
          <p:nvPr/>
        </p:nvSpPr>
        <p:spPr>
          <a:xfrm>
            <a:off x="571500" y="2552700"/>
            <a:ext cx="11049000" cy="695325"/>
          </a:xfrm>
          <a:prstGeom prst="rect">
            <a:avLst/>
          </a:prstGeom>
          <a:solidFill>
            <a:srgbClr val="F0F5FC"/>
          </a:solidFill>
        </p:spPr>
        <p:txBody>
          <a:bodyPr/>
          <a:p/>
        </p:txBody>
      </p:sp>
      <p:sp>
        <p:nvSpPr>
          <p:cNvPr id="342" name="任意多边形 341"/>
          <p:cNvSpPr/>
          <p:nvPr/>
        </p:nvSpPr>
        <p:spPr>
          <a:xfrm>
            <a:off x="571500" y="2552700"/>
            <a:ext cx="11049000" cy="704850"/>
          </a:xfrm>
          <a:custGeom>
            <a:avLst/>
            <a:gdLst/>
            <a:ahLst/>
            <a:cxnLst/>
            <a:pathLst>
              <a:path w="1160" h="74">
                <a:moveTo>
                  <a:pt x="0" y="73"/>
                </a:moveTo>
                <a:lnTo>
                  <a:pt x="1160" y="73"/>
                </a:lnTo>
                <a:lnTo>
                  <a:pt x="1160" y="74"/>
                </a:lnTo>
                <a:lnTo>
                  <a:pt x="0" y="74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571500" y="2733675"/>
            <a:ext cx="1905000" cy="342900"/>
          </a:xfrm>
          <a:prstGeom prst="rect">
            <a:avLst/>
          </a:prstGeom>
        </p:spPr>
        <p:txBody>
          <a:bodyPr wrap="none" lIns="142875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3</a:t>
            </a:r>
            <a:endParaRPr lang="en-US" sz="2250" b="1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2476500" y="2762250"/>
            <a:ext cx="2238375" cy="276225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Times New Roman" panose="02020603050405020304"/>
                <a:ea typeface="Times New Roman" panose="02020603050405020304"/>
              </a:rPr>
              <a:t>313,479</a:t>
            </a:r>
            <a:endParaRPr lang="en-US" sz="1800" b="1">
              <a:solidFill>
                <a:srgbClr val="0E3F8C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4714875" y="2762250"/>
            <a:ext cx="2238375" cy="276225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Times New Roman" panose="02020603050405020304"/>
                <a:ea typeface="Times New Roman" panose="02020603050405020304"/>
              </a:rPr>
              <a:t>89.69</a:t>
            </a:r>
            <a:endParaRPr lang="en-US" sz="1800" b="1">
              <a:solidFill>
                <a:srgbClr val="0E3F8C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6953250" y="2762250"/>
            <a:ext cx="2238375" cy="276225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800" b="1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29</a:t>
            </a:r>
            <a:endParaRPr lang="en-US" sz="1800" b="1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9191625" y="2762250"/>
            <a:ext cx="2428875" cy="276225"/>
          </a:xfrm>
          <a:prstGeom prst="rect">
            <a:avLst/>
          </a:prstGeom>
        </p:spPr>
        <p:txBody>
          <a:bodyPr wrap="none" lIns="0" tIns="0" rIns="142875" bIns="0"/>
          <a:p>
            <a:pPr algn="r"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Times New Roman" panose="02020603050405020304"/>
                <a:ea typeface="Times New Roman" panose="02020603050405020304"/>
              </a:rPr>
              <a:t>58,979</a:t>
            </a:r>
            <a:endParaRPr lang="en-US" sz="1800" b="1">
              <a:solidFill>
                <a:srgbClr val="0E3F8C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48" name="圆角矩形 347"/>
          <p:cNvSpPr/>
          <p:nvPr/>
        </p:nvSpPr>
        <p:spPr>
          <a:xfrm>
            <a:off x="571500" y="3619500"/>
            <a:ext cx="5448300" cy="196215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349" name="圆角矩形 348"/>
          <p:cNvSpPr/>
          <p:nvPr/>
        </p:nvSpPr>
        <p:spPr>
          <a:xfrm>
            <a:off x="742950" y="37909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828675" y="3838575"/>
            <a:ext cx="85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1085850" y="3810000"/>
            <a:ext cx="3543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真实收益：生产吞吐</a:t>
            </a: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+54%</a:t>
            </a: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p95 </a:t>
            </a: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延迟</a:t>
            </a: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−91%</a:t>
            </a:r>
            <a:endParaRPr lang="en-US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742950" y="4133850"/>
            <a:ext cx="51054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分区把生产吞吐从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20.3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万提到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31.3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万条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秒，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p95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327 ms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降到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29 ms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单分区时所有请求排一条队，写入的尾部延迟被显著拖垮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这是分区数最直接的价值。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3" name="圆角矩形 352"/>
          <p:cNvSpPr/>
          <p:nvPr/>
        </p:nvSpPr>
        <p:spPr>
          <a:xfrm>
            <a:off x="6172200" y="3619500"/>
            <a:ext cx="5448300" cy="196215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254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354" name="圆角矩形 353"/>
          <p:cNvSpPr/>
          <p:nvPr/>
        </p:nvSpPr>
        <p:spPr>
          <a:xfrm>
            <a:off x="6343650" y="37909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</p:spPr>
        <p:txBody>
          <a:bodyPr/>
          <a:p/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6429375" y="3838575"/>
            <a:ext cx="85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6686550" y="3810000"/>
            <a:ext cx="2752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陷阱：消费列</a:t>
            </a:r>
            <a:r>
              <a:rPr lang="en-US" sz="135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几乎相同</a:t>
            </a:r>
            <a:r>
              <a:rPr lang="en-US" sz="135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是测量伪影</a:t>
            </a:r>
            <a:endParaRPr lang="zh-CN" sz="1350" b="1">
              <a:solidFill>
                <a:srgbClr val="D953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6343650" y="4133850"/>
            <a:ext cx="51054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58,685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58,979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看似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分区对消费没影响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，实则两列都被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rebalance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固定开销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（约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3.2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秒）主导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—— 20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万条的真实读取只需约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0.18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秒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，开销占了窗口的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94%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。这个数字不可用于判断分区收益。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" name="圆角矩形 357"/>
          <p:cNvSpPr/>
          <p:nvPr/>
        </p:nvSpPr>
        <p:spPr>
          <a:xfrm>
            <a:off x="571500" y="6238875"/>
            <a:ext cx="11049000" cy="3810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762000" y="6353175"/>
            <a:ext cx="71532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★ </a:t>
            </a:r>
            <a:r>
              <a:rPr lang="zh-CN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结论：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小规模测试既受冷启动影响（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分区是首轮）、又被固定开销污染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要看清分区的真实收益，必须把量级提到千万条。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9420225" y="6362700"/>
            <a:ext cx="2009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300 B/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条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acks=all · linger=0 ·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无压缩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11325225" y="6657975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08 / 13</a:t>
            </a:r>
            <a:endParaRPr lang="en-US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3" name="" descr="&lt;Slide&gt;&#10;  {/* 白底 */}&#10;  &lt;Box style={{ position: 'absolute', top: 0, left: 0, width: '100%', height: '100%', background: '#FFFFFF' }} /&gt;&#10;&#10;  {/* 顶部细深蓝条 */}&#10;  &lt;Box style={{ position: 'absolute', top: 0, left: 0, width: '100%', height: 8, background: '#1E4FA8' }} /&gt;&#10;&#10;  {/* 标题区 */}&#10;  &lt;Text style={{ position: 'absolute', top: 30, left: 60, fontSize: 18, color: '#3D7BD9', letterSpacing: 4, fontWeight: 'bold' }}&gt;&#10;    03 · 压测与调优&#10;  &lt;/Text&gt;&#10;  &lt;Text style={{ position: 'absolute', top: 58, left: 60, fontSize: 36, color: '#0E3F8C', fontWeight: 'bold' }}&gt;&#10;    分区数对照（20 万条）：趋势可见，但读数要打折&#10;  &lt;/Text&gt;&#10;  &lt;Box style={{ position: 'absolute', top: 112, left: 60, width: 60, height: 3, background: '#FFC107' }} /&gt;&#10;&#10;  {/* 数据表 */}&#10;  &lt;Box style={{ position: 'absolute', top: 148, left: 60, width: 1160, flexDirection: 'column' }}&gt;&#10;    &lt;Box style={{ flexDirection: 'row', background: '#0E3F8C', borderRadius: 6, paddingTop: 13, paddingBottom: 13 }}&gt;&#10;      &lt;Text style={{ width: 200, fontSize: 16, color: '#FFFFFF', fontWeight: 'bold', paddingLeft: 20 }}&gt;分区数&lt;/Text&gt;&#10;      &lt;Text style={{ flex: 1, fontSize: 16, color: '#FFFFFF', fontWeight: 'bold', textAlign: 'right' }}&gt;生产（条/秒）&lt;/Text&gt;&#10;      &lt;Text style={{ flex: 1, fontSize: 16, color: '#FFFFFF', fontWeight: 'bold', textAlign: 'right' }}&gt;生产（MB/s）&lt;/Text&gt;&#10;      &lt;Text style={{ flex: 1, fontSize: 16, color: '#FFC107', fontWeight: 'bold', textAlign: 'right' }}&gt;p95（ms）&lt;/Text&gt;&#10;      &lt;Text style={{ flex: 1, fontSize: 16, color: '#FFFFFF', fontWeight: 'bold', textAlign: 'right', paddingRight: 20 }}&gt;消费（条/秒）&lt;/Text&gt;&#10;    &lt;/Box&gt;&#10;&#10;    &lt;Box style={{ flexDirection: 'row', alignItems: 'center', height: 74, borderBottom: '1px solid #D6DCE5' }}&gt;&#10;      &lt;Text style={{ width: 200, fontSize: 30, color: '#8B97A8', fontWeight: 'bold', paddingLeft: 20, fontFamily: 'Times New Roman' }}&gt;1&lt;/Text&gt;&#10;      &lt;Text style={{ flex: 1, fontSize: 24, color: '#4A5568', textAlign: 'right', fontFamily: 'Times New Roman' }}&gt;203,045&lt;/Text&gt;&#10;      &lt;Text style={{ flex: 1, fontSize: 24, color: '#4A5568', textAlign: 'right', fontFamily: 'Times New Roman' }}&gt;58.09&lt;/Text&gt;&#10;      &lt;Text style={{ flex: 1, fontSize: 24, color: '#D9534F', textAlign: 'right', fontWeight: 'bold', fontFamily: 'Times New Roman' }}&gt;327&lt;/Text&gt;&#10;      &lt;Text style={{ flex: 1, fontSize: 24, color: '#4A5568', textAlign: 'right', fontFamily: 'Times New Roman', paddingRight: 20 }}&gt;58,685&lt;/Text&gt;&#10;    &lt;/Box&gt;&#10;&#10;    &lt;Box style={{ flexDirection: 'row', alignItems: 'center', height: 74, background: '#F0F5FC', borderBottom: '1px solid #D6DCE5' }}&gt;&#10;      &lt;Text style={{ width: 200, fontSize: 30, color: '#1E4FA8', fontWeight: 'bold', paddingLeft: 20, fontFamily: 'Times New Roman' }}&gt;3&lt;/Text&gt;&#10;      &lt;Text style={{ flex: 1, fontSize: 24, color: '#0E3F8C', fontWeight: 'bold', textAlign: 'right', fontFamily: 'Times New Roman' }}&gt;313,479&lt;/Text&gt;&#10;      &lt;Text style={{ flex: 1, fontSize: 24, color: '#0E3F8C', fontWeight: 'bold', textAlign: 'right', fontFamily: 'Times New Roman' }}&gt;89.69&lt;/Text&gt;&#10;      &lt;Text style={{ flex: 1, fontSize: 24, color: '#1E4FA8', fontWeight: 'bold', textAlign: 'right', fontFamily: 'Times New Roman' }}&gt;29&lt;/Text&gt;&#10;      &lt;Text style={{ flex: 1, fontSize: 24, color: '#0E3F8C', fontWeight: 'bold', textAlign: 'right', fontFamily: 'Times New Roman', paddingRight: 20 }}&gt;58,979&lt;/Text&gt;&#10;    &lt;/Box&gt;&#10;  &lt;/Box&gt;&#10;&#10;  {/* 两张洞察卡 */}&#10;  &lt;Box style={{ position: 'absolute', top: 380, left: 60, width: 1160, height: 206, flexDirection: 'row', gap: 16 }}&gt;&#10;&#10;    &lt;Box style={{ flex: 1, background: '#FFFFFF', borderRadius: 8, padding: 18, border: '2px solid #1E4FA8', flexDirection: 'column' }}&gt;&#10;      &lt;Box style={{ flexDirection: 'row', alignItems: 'center', marginBottom: 10 }}&gt;&#10;        &lt;Box style={{ width: 26, height: 26, borderRadius: 13, background: '#1E4FA8', alignItems: 'center', justifyContent: 'center', marginRight: 10 }}&gt;&#10;          &lt;Text style={{ fontSize: 14, color: '#FFFFFF', fontWeight: 'bold' }}&gt;1&lt;/Text&gt;&#10;        &lt;/Box&gt;&#10;        &lt;Text style={{ fontSize: 18, color: '#0E3F8C', fontWeight: 'bold' }}&gt;真实收益：生产吞吐 +54%，p95 延迟 −91%&lt;/Text&gt;&#10;      &lt;/Box&gt;&#10;      &lt;Text style={{ fontSize: 14, color: '#1A2230', lineHeight: 1.65 }}&gt;&#10;        3 分区把生产吞吐从 20.3 万提到 31.3 万条/秒，p95 从 &lt;b&gt;327 ms&lt;/b&gt; 降到 &lt;b&gt;29 ms&lt;/b&gt;。&#10;        单分区时所有请求排一条队，写入的尾部延迟被显著拖垮 —— 这是分区数最直接的价值。&#10;      &lt;/Text&gt;&#10;    &lt;/Box&gt;&#10;&#10;    &lt;Box style={{ flex: 1, background: '#FFFFFF', borderRadius: 8, padding: 18, border: '2px solid #D9534F', flexDirection: 'column' }}&gt;&#10;      &lt;Box style={{ flexDirection: 'row', alignItems: 'center', marginBottom: 10 }}&gt;&#10;        &lt;Box style={{ width: 26, height: 26, borderRadius: 13, background: '#D9534F', alignItems: 'center', justifyContent: 'center', marginRight: 10 }}&gt;&#10;          &lt;Text style={{ fontSize: 14, color: '#FFFFFF', fontWeight: 'bold' }}&gt;2&lt;/Text&gt;&#10;        &lt;/Box&gt;&#10;        &lt;Text style={{ fontSize: 18, color: '#D9534F', fontWeight: 'bold' }}&gt;陷阱：消费列&quot;几乎相同&quot;是测量伪影&lt;/Text&gt;&#10;      &lt;/Box&gt;&#10;      &lt;Text style={{ fontSize: 14, color: '#1A2230', lineHeight: 1.65 }}&gt;&#10;        58,685 与 58,979 看似&quot;分区对消费没影响&quot;，实则两列都被 &lt;b&gt;rebalance 固定开销&lt;/b&gt;（约 3.2 秒）主导 ——&#10;        20 万条的真实读取只需约 &lt;b&gt;0.18 秒&lt;/b&gt;，开销占了窗口的 94%。这个数字不可用于判断分区收益。&#10;      &lt;/Text&gt;&#10;    &lt;/Box&gt;&#10;&#10;  &lt;/Box&gt;&#10;&#10;  {/* 底部结论条 */}&#10;  &lt;Box style={{ position: 'absolute', bottom: 25, left: 60, right: 60, height: 40, background: '#F0F5FC', borderRadius: 4, padding: '0 20', flexDirection: 'row', alignItems: 'center', justifyContent: 'space-between' }}&gt;&#10;    &lt;Text style={{ fontSize: 13, color: '#1A2230' }}&gt;&#10;      &lt;span style={{ fontWeight: 'bold', color: '#0E3F8C' }}&gt;★ 结论：&lt;/span&gt;&#10;      小规模测试既受冷启动影响（1 分区是首轮）、又被固定开销污染 —— 要看清分区的真实收益，必须把量级提到千万条。&#10;    &lt;/Text&gt;&#10;    &lt;Text style={{ fontSize: 12, color: '#8B97A8' }}&gt;300 B/条 · acks=all · linger=0 · 无压缩&lt;/Text&gt;&#10;  &lt;/Box&gt;&#10;&#10;  {/* 页脚 */}&#10;  &lt;Text style={{ position: 'absolute', bottom: 6, right: 50, fontSize: 12, color: '#8B97A8' }}&gt;&#10;    08 / 13&#10;  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矩形 3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25" name="矩形 32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326" name="文本框 325" descr="{&quot;isTemplate&quot;:true,&quot;type&quot;:&quot;text&quot;}"/>
          <p:cNvSpPr txBox="1"/>
          <p:nvPr/>
        </p:nvSpPr>
        <p:spPr>
          <a:xfrm>
            <a:off x="571500" y="285750"/>
            <a:ext cx="1628775" cy="2095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1350" b="1" spc="3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04 · </a:t>
            </a:r>
            <a:r>
              <a:rPr lang="zh-CN" sz="1350" b="1" spc="3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关键设计与工程亮点</a:t>
            </a:r>
            <a:endParaRPr lang="zh-CN" sz="1350" b="1" spc="30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571500" y="552450"/>
            <a:ext cx="77343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分区数对照（</a:t>
            </a:r>
            <a:r>
              <a:rPr lang="en-US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20 </a:t>
            </a:r>
            <a:r>
              <a:rPr lang="zh-CN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万条）：趋势可见，但读数要打折</a:t>
            </a:r>
            <a:endParaRPr lang="zh-CN" sz="27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矩形 327"/>
          <p:cNvSpPr/>
          <p:nvPr/>
        </p:nvSpPr>
        <p:spPr>
          <a:xfrm>
            <a:off x="571500" y="1066800"/>
            <a:ext cx="571500" cy="28575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329" name="圆角矩形 328"/>
          <p:cNvSpPr/>
          <p:nvPr/>
        </p:nvSpPr>
        <p:spPr>
          <a:xfrm>
            <a:off x="571500" y="1409700"/>
            <a:ext cx="11049000" cy="438150"/>
          </a:xfrm>
          <a:prstGeom prst="roundRect">
            <a:avLst>
              <a:gd name="adj" fmla="val 13043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330" name="文本框 329" descr="{&quot;isTemplate&quot;:true,&quot;type&quot;:&quot;text&quot;}"/>
          <p:cNvSpPr txBox="1"/>
          <p:nvPr/>
        </p:nvSpPr>
        <p:spPr>
          <a:xfrm>
            <a:off x="571500" y="1533525"/>
            <a:ext cx="1905000" cy="190500"/>
          </a:xfrm>
          <a:prstGeom prst="rect">
            <a:avLst/>
          </a:prstGeom>
        </p:spPr>
        <p:txBody>
          <a:bodyPr wrap="none" lIns="142875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分区数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2476500" y="1533525"/>
            <a:ext cx="2238375" cy="19050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生产（条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秒）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4714875" y="1533525"/>
            <a:ext cx="2238375" cy="19050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生产（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MB/s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6953250" y="1533525"/>
            <a:ext cx="2238375" cy="19050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00" b="1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p95</a:t>
            </a:r>
            <a:r>
              <a:rPr lang="zh-CN" sz="1200" b="1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200" b="1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ms</a:t>
            </a:r>
            <a:r>
              <a:rPr lang="zh-CN" sz="1200" b="1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00" b="1">
              <a:solidFill>
                <a:srgbClr val="FFC10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9191625" y="1533525"/>
            <a:ext cx="2428875" cy="190500"/>
          </a:xfrm>
          <a:prstGeom prst="rect">
            <a:avLst/>
          </a:prstGeom>
        </p:spPr>
        <p:txBody>
          <a:bodyPr wrap="none" lIns="0" tIns="0" rIns="142875" bIns="0"/>
          <a:p>
            <a:pPr algn="r"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消费（条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秒）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5" name="任意多边形 334"/>
          <p:cNvSpPr/>
          <p:nvPr/>
        </p:nvSpPr>
        <p:spPr>
          <a:xfrm>
            <a:off x="571500" y="1847850"/>
            <a:ext cx="11049000" cy="704850"/>
          </a:xfrm>
          <a:custGeom>
            <a:avLst/>
            <a:gdLst/>
            <a:ahLst/>
            <a:cxnLst/>
            <a:pathLst>
              <a:path w="1160" h="74">
                <a:moveTo>
                  <a:pt x="0" y="73"/>
                </a:moveTo>
                <a:lnTo>
                  <a:pt x="1160" y="73"/>
                </a:lnTo>
                <a:lnTo>
                  <a:pt x="1160" y="74"/>
                </a:lnTo>
                <a:lnTo>
                  <a:pt x="0" y="74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571500" y="2028825"/>
            <a:ext cx="1905000" cy="342900"/>
          </a:xfrm>
          <a:prstGeom prst="rect">
            <a:avLst/>
          </a:prstGeom>
        </p:spPr>
        <p:txBody>
          <a:bodyPr wrap="none" lIns="142875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8B97A8"/>
                </a:solidFill>
                <a:latin typeface="Times New Roman" panose="02020603050405020304"/>
                <a:ea typeface="Times New Roman" panose="02020603050405020304"/>
              </a:rPr>
              <a:t>1</a:t>
            </a:r>
            <a:endParaRPr lang="en-US" sz="2250" b="1">
              <a:solidFill>
                <a:srgbClr val="8B97A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2476500" y="2057400"/>
            <a:ext cx="2238375" cy="276225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800">
                <a:solidFill>
                  <a:srgbClr val="4A5568"/>
                </a:solidFill>
                <a:latin typeface="Times New Roman" panose="02020603050405020304"/>
                <a:ea typeface="Times New Roman" panose="02020603050405020304"/>
              </a:rPr>
              <a:t>203,045</a:t>
            </a:r>
            <a:endParaRPr lang="en-US" sz="1800">
              <a:solidFill>
                <a:srgbClr val="4A556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4714875" y="2057400"/>
            <a:ext cx="2238375" cy="276225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800">
                <a:solidFill>
                  <a:srgbClr val="4A5568"/>
                </a:solidFill>
                <a:latin typeface="Times New Roman" panose="02020603050405020304"/>
                <a:ea typeface="Times New Roman" panose="02020603050405020304"/>
              </a:rPr>
              <a:t>58.09</a:t>
            </a:r>
            <a:endParaRPr lang="en-US" sz="1800">
              <a:solidFill>
                <a:srgbClr val="4A556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6953250" y="2057400"/>
            <a:ext cx="2238375" cy="276225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800" b="1">
                <a:solidFill>
                  <a:srgbClr val="D9534F"/>
                </a:solidFill>
                <a:latin typeface="Times New Roman" panose="02020603050405020304"/>
                <a:ea typeface="Times New Roman" panose="02020603050405020304"/>
              </a:rPr>
              <a:t>327</a:t>
            </a:r>
            <a:endParaRPr lang="en-US" sz="1800" b="1">
              <a:solidFill>
                <a:srgbClr val="D9534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9191625" y="2057400"/>
            <a:ext cx="2428875" cy="276225"/>
          </a:xfrm>
          <a:prstGeom prst="rect">
            <a:avLst/>
          </a:prstGeom>
        </p:spPr>
        <p:txBody>
          <a:bodyPr wrap="none" lIns="0" tIns="0" rIns="142875" bIns="0"/>
          <a:p>
            <a:pPr algn="r">
              <a:lnSpc>
                <a:spcPct val="100000"/>
              </a:lnSpc>
            </a:pPr>
            <a:r>
              <a:rPr lang="en-US" sz="1800">
                <a:solidFill>
                  <a:srgbClr val="4A5568"/>
                </a:solidFill>
                <a:latin typeface="Times New Roman" panose="02020603050405020304"/>
                <a:ea typeface="Times New Roman" panose="02020603050405020304"/>
              </a:rPr>
              <a:t>58,685</a:t>
            </a:r>
            <a:endParaRPr lang="en-US" sz="1800">
              <a:solidFill>
                <a:srgbClr val="4A556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41" name="矩形 340"/>
          <p:cNvSpPr/>
          <p:nvPr/>
        </p:nvSpPr>
        <p:spPr>
          <a:xfrm>
            <a:off x="571500" y="2552700"/>
            <a:ext cx="11049000" cy="695325"/>
          </a:xfrm>
          <a:prstGeom prst="rect">
            <a:avLst/>
          </a:prstGeom>
          <a:solidFill>
            <a:srgbClr val="F0F5FC"/>
          </a:solidFill>
        </p:spPr>
        <p:txBody>
          <a:bodyPr/>
          <a:p/>
        </p:txBody>
      </p:sp>
      <p:sp>
        <p:nvSpPr>
          <p:cNvPr id="342" name="任意多边形 341"/>
          <p:cNvSpPr/>
          <p:nvPr/>
        </p:nvSpPr>
        <p:spPr>
          <a:xfrm>
            <a:off x="571500" y="2552700"/>
            <a:ext cx="11049000" cy="704850"/>
          </a:xfrm>
          <a:custGeom>
            <a:avLst/>
            <a:gdLst/>
            <a:ahLst/>
            <a:cxnLst/>
            <a:pathLst>
              <a:path w="1160" h="74">
                <a:moveTo>
                  <a:pt x="0" y="73"/>
                </a:moveTo>
                <a:lnTo>
                  <a:pt x="1160" y="73"/>
                </a:lnTo>
                <a:lnTo>
                  <a:pt x="1160" y="74"/>
                </a:lnTo>
                <a:lnTo>
                  <a:pt x="0" y="74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571500" y="2733675"/>
            <a:ext cx="1905000" cy="342900"/>
          </a:xfrm>
          <a:prstGeom prst="rect">
            <a:avLst/>
          </a:prstGeom>
        </p:spPr>
        <p:txBody>
          <a:bodyPr wrap="none" lIns="142875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3</a:t>
            </a:r>
            <a:endParaRPr lang="en-US" sz="2250" b="1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2476500" y="2762250"/>
            <a:ext cx="2238375" cy="276225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Times New Roman" panose="02020603050405020304"/>
                <a:ea typeface="Times New Roman" panose="02020603050405020304"/>
              </a:rPr>
              <a:t>313,479</a:t>
            </a:r>
            <a:endParaRPr lang="en-US" sz="1800" b="1">
              <a:solidFill>
                <a:srgbClr val="0E3F8C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4714875" y="2762250"/>
            <a:ext cx="2238375" cy="276225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Times New Roman" panose="02020603050405020304"/>
                <a:ea typeface="Times New Roman" panose="02020603050405020304"/>
              </a:rPr>
              <a:t>89.69</a:t>
            </a:r>
            <a:endParaRPr lang="en-US" sz="1800" b="1">
              <a:solidFill>
                <a:srgbClr val="0E3F8C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6953250" y="2762250"/>
            <a:ext cx="2238375" cy="276225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800" b="1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29</a:t>
            </a:r>
            <a:endParaRPr lang="en-US" sz="1800" b="1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9191625" y="2762250"/>
            <a:ext cx="2428875" cy="276225"/>
          </a:xfrm>
          <a:prstGeom prst="rect">
            <a:avLst/>
          </a:prstGeom>
        </p:spPr>
        <p:txBody>
          <a:bodyPr wrap="none" lIns="0" tIns="0" rIns="142875" bIns="0"/>
          <a:p>
            <a:pPr algn="r"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Times New Roman" panose="02020603050405020304"/>
                <a:ea typeface="Times New Roman" panose="02020603050405020304"/>
              </a:rPr>
              <a:t>58,979</a:t>
            </a:r>
            <a:endParaRPr lang="en-US" sz="1800" b="1">
              <a:solidFill>
                <a:srgbClr val="0E3F8C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48" name="圆角矩形 347"/>
          <p:cNvSpPr/>
          <p:nvPr/>
        </p:nvSpPr>
        <p:spPr>
          <a:xfrm>
            <a:off x="571500" y="3619500"/>
            <a:ext cx="5448300" cy="196215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349" name="圆角矩形 348"/>
          <p:cNvSpPr/>
          <p:nvPr/>
        </p:nvSpPr>
        <p:spPr>
          <a:xfrm>
            <a:off x="742950" y="37909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828675" y="3838575"/>
            <a:ext cx="85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1085850" y="3810000"/>
            <a:ext cx="3543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真实收益：生产吞吐</a:t>
            </a: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+54%</a:t>
            </a: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p95 </a:t>
            </a: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延迟</a:t>
            </a: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−91%</a:t>
            </a:r>
            <a:endParaRPr lang="en-US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742950" y="4133850"/>
            <a:ext cx="51054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分区把生产吞吐从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20.3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万提到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31.3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万条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秒，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p95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327 ms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降到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29 ms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单分区时所有请求排一条队，写入的尾部延迟被显著拖垮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这是分区数最直接的价值。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3" name="圆角矩形 352"/>
          <p:cNvSpPr/>
          <p:nvPr/>
        </p:nvSpPr>
        <p:spPr>
          <a:xfrm>
            <a:off x="6172200" y="3619500"/>
            <a:ext cx="5448300" cy="196215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254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354" name="圆角矩形 353"/>
          <p:cNvSpPr/>
          <p:nvPr/>
        </p:nvSpPr>
        <p:spPr>
          <a:xfrm>
            <a:off x="6343650" y="37909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</p:spPr>
        <p:txBody>
          <a:bodyPr/>
          <a:p/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6429375" y="3838575"/>
            <a:ext cx="85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6686550" y="3810000"/>
            <a:ext cx="2752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陷阱：消费列</a:t>
            </a:r>
            <a:r>
              <a:rPr lang="en-US" sz="135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几乎相同</a:t>
            </a:r>
            <a:r>
              <a:rPr lang="en-US" sz="135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是测量伪影</a:t>
            </a:r>
            <a:endParaRPr lang="zh-CN" sz="1350" b="1">
              <a:solidFill>
                <a:srgbClr val="D953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6343650" y="4133850"/>
            <a:ext cx="51054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58,685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58,979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看似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分区对消费没影响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，实则两列都被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rebalance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固定开销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（约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3.2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秒）主导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—— 20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万条的真实读取只需约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0.18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秒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，开销占了窗口的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94%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。这个数字不可用于判断分区收益。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" name="圆角矩形 357"/>
          <p:cNvSpPr/>
          <p:nvPr/>
        </p:nvSpPr>
        <p:spPr>
          <a:xfrm>
            <a:off x="571500" y="6238875"/>
            <a:ext cx="11049000" cy="3810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762000" y="6353175"/>
            <a:ext cx="71532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★ </a:t>
            </a:r>
            <a:r>
              <a:rPr lang="zh-CN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结论：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小规模测试既受冷启动影响（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分区是首轮）、又被固定开销污染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要看清分区的真实收益，必须把量级提到千万条。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9420225" y="6362700"/>
            <a:ext cx="2009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300 B/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条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acks=all · linger=0 ·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无压缩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11325225" y="6657975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08 / 13</a:t>
            </a:r>
            <a:endParaRPr lang="en-US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0" name="" descr="&lt;Slide&gt;&#10;  {/* 全幅浅蓝底 */}&#10;  &lt;Box style={{ position: 'absolute', top: 0, left: 0, width: '100%', height: '100%', background: '#F0F5FC' }} /&gt;&#10;&#10;  {/* 左侧深蓝装饰条 */}&#10;  &lt;Box style={{ position: 'absolute', top: 0, left: 0, width: 16, height: '100%', background: '#1E4FA8' }} /&gt;&#10;&#10;  {/* 顶部黄色细线 */}&#10;  &lt;Box style={{ position: 'absolute', top: 180, left: 100, width: 60, height: 4, background: '#FFC107' }} /&gt;&#10;&#10;  {/* 大章节数字 */}&#10;  &lt;Text style={{ position: 'absolute', top: 120, left: 100, fontSize: 220, color: '#1E4FA8', fontWeight: 'bold', lineHeight: 1, fontFamily: 'Times New Roman' }}&gt;&#10;    05&#10;  &lt;/Text&gt;&#10;&#10;  {/* 章节小标 */}&#10;  &lt;Text style={{ position: 'absolute', top: 380, left: 100, fontSize: 18, color: '#3D7BD9', letterSpacing: 8, fontWeight: 'bold' }}&gt;&#10;    PART FIVE&#10;  &lt;/Text&gt;&#10;&#10;  {/* 章节主标 */}&#10;  &lt;Text style={{ position: 'absolute', top: 410, left: 100, fontSize: 48, color: '#0E3F8C', fontWeight: 'bold' }}&gt;&#10;    团队分工与总结展望&#10;  &lt;/Text&gt;&#10;&#10;  {/* 章节副标 */}&#10;  &lt;Box style={{ position: 'absolute', top: 480, left: 100, flexDirection: 'column', gap: 12 }}&gt;&#10;    &lt;Text style={{ fontSize: 18, color: '#4A5568', lineHeight: 1.6 }}&gt;&#10;      团队 ——  6 人分工明确，每人承担核心任务&#10;    &lt;/Text&gt;&#10;    &lt;Text style={{ fontSize: 18, color: '#4A5568', lineHeight: 1.6 }}&gt;&#10;      完成度自评 + 未来工作 ——  诚实短板 + 改进方向&#10;    &lt;/Text&gt;&#10;  &lt;/Box&gt;&#10;&#10;  {/* 右侧装饰 */}&#10;  &lt;Text style={{ position: 'absolute', top: 280, right: 80, fontSize: 220, color: '#1E4FA8', opacity: 0.08, fontWeight: 'bold', lineHeight: 1 }}&gt;&#10;    末&#10;  &lt;/Text&gt;&#10;&#10;  {/* 蓝色分割条 */}&#10;  &lt;Box style={{ position: 'absolute', top: 600, left: 100, width: 280, height: 4, background: '#1E4FA8' }} /&gt;&#10;&#10;  {/* 页脚 */}&#10;  &lt;Text style={{ position: 'absolute', bottom: 30, right: 50, fontSize: 14, color: '#8B97A8' }}&gt;&#10;    14 / 15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矩形 1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5FC"/>
          </a:solidFill>
        </p:spPr>
        <p:txBody>
          <a:bodyPr/>
          <a:p/>
        </p:txBody>
      </p:sp>
      <p:sp>
        <p:nvSpPr>
          <p:cNvPr id="162" name="矩形 16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63" name="矩形 162"/>
          <p:cNvSpPr/>
          <p:nvPr/>
        </p:nvSpPr>
        <p:spPr>
          <a:xfrm>
            <a:off x="952500" y="1714500"/>
            <a:ext cx="571500" cy="38100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952500" y="1143000"/>
            <a:ext cx="2095500" cy="2514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05</a:t>
            </a:r>
            <a:endParaRPr lang="en-US" sz="16500" b="1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952500" y="3619500"/>
            <a:ext cx="1581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6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PART FIVE</a:t>
            </a:r>
            <a:endParaRPr lang="en-US" sz="1350" b="1" spc="60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952500" y="3905250"/>
            <a:ext cx="41148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团队分工与总结展望</a:t>
            </a:r>
            <a:endParaRPr lang="zh-CN" sz="36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952500" y="4572000"/>
            <a:ext cx="389572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——  6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人分工明确，每人承担核心任务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952500" y="5019675"/>
            <a:ext cx="389572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完成度自评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未来工作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—— 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诚实短板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改进方向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9334500" y="2667000"/>
            <a:ext cx="2095500" cy="2514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0" b="1">
                <a:solidFill>
                  <a:srgbClr val="1E4FA8">
                    <a:alpha val="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末</a:t>
            </a:r>
            <a:endParaRPr lang="zh-CN" sz="16500" b="1">
              <a:solidFill>
                <a:srgbClr val="1E4FA8">
                  <a:alpha val="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矩形 169"/>
          <p:cNvSpPr/>
          <p:nvPr/>
        </p:nvSpPr>
        <p:spPr>
          <a:xfrm>
            <a:off x="952500" y="5715000"/>
            <a:ext cx="2667000" cy="381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11258550" y="64103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14 / 15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2" name="" descr="&lt;Slide&gt;&#10;  {/* 白底 */}&#10;  &lt;Box style={{ position: 'absolute', top: 0, left: 0, width: '100%', height: '100%', background: '#FFFFFF' }} /&gt;&#10;&#10;  {/* 顶部细深蓝条 */}&#10;  &lt;Box style={{ position: 'absolute', top: 0, left: 0, width: '100%', height: 8, background: '#1E4FA8' }} /&gt;&#10;&#10;  {/* 标题区 */}&#10;  &lt;Text style={{ position: 'absolute', top: 30, left: 60, fontSize: 18, color: '#3D7BD9', letterSpacing: 4, fontWeight: 'bold' }}&gt;&#10;    05 · 团队分工与总结展望&#10;  &lt;/Text&gt;&#10;  &lt;Text style={{ position: 'absolute', top: 58, left: 60, fontSize: 36, color: '#0E3F8C', fontWeight: 'bold' }}&gt;&#10;    团队分工 + 完成度自评 + 未来工作&#10;  &lt;/Text&gt;&#10;  &lt;Box style={{ position: 'absolute', top: 112, left: 60, width: 60, height: 3, background: '#FFC107' }} /&gt;&#10;&#10;  {/* 左侧团队分工 55% */}&#10;  &lt;Box style={{ position: 'absolute', top: 150, left: 50, width: 660, height: 460, flexDirection: 'column' }}&gt;&#10;    &lt;Box style={{ flexDirection: 'row', alignItems: 'center', gap: 10, marginBottom: 14 }}&gt;&#10;      &lt;Box style={{ width: 32, height: 4, background: '#1E4FA8' }} /&gt;&#10;      &lt;Text style={{ fontSize: 18, color: '#0E3F8C', fontWeight: 'bold' }}&gt;团队分工  ·  6 人组&lt;/Text&gt;&#10;    &lt;/Box&gt;&#10;&#10;    {/* 6 行团队分工 */}&#10;    &lt;Box style={{ flex: 1, flexDirection: 'column', gap: 8 }}&gt;&#10;      &lt;Box style={{ flex: 1, background: '#F7F9FC', borderRadius: 6, padding: 12, flexDirection: 'row', alignItems: 'center', borderLeft: '4px solid #1E4FA8' }}&gt;&#10;        &lt;Box style={{ width: 80, alignItems: 'center' }}&gt;&#10;          &lt;Text style={{ fontSize: 13, color: '#0E3F8C', fontWeight: 'bold' }}&gt;架构设计&lt;/Text&gt;&#10;        &lt;/Box&gt;&#10;        &lt;Text style={{ fontSize: 13, color: '#1A2230', marginLeft: 16 }}&gt;需求分析 / 总体架构 / 组件选型&lt;/Text&gt;&#10;        &lt;Text style={{ fontSize: 12, color: '#8B97A8', marginLeft: 'auto' }}&gt;陈明政&lt;/Text&gt;&#10;      &lt;/Box&gt;&#10;&#10;      &lt;Box style={{ flex: 1, background: '#F7F9FC', borderRadius: 6, padding: 12, flexDirection: 'row', alignItems: 'center', borderLeft: '4px solid #1E4FA8' }}&gt;&#10;        &lt;Box style={{ width: 80, alignItems: 'center' }}&gt;&#10;          &lt;Text style={{ fontSize: 13, color: '#0E3F8C', fontWeight: 'bold' }}&gt;中间件运维&lt;/Text&gt;&#10;        &lt;/Box&gt;&#10;        &lt;Text style={{ fontSize: 13, color: '#1A2230', marginLeft: 16 }}&gt;5 类组件容器化部署 / 配置调优&lt;/Text&gt;&#10;        &lt;Text style={{ fontSize: 12, color: '#8B97A8', marginLeft: 'auto' }}&gt;陈明政&lt;/Text&gt;&#10;      &lt;/Box&gt;&#10;&#10;      &lt;Box style={{ flex: 1, background: '#F7F9FC', borderRadius: 6, padding: 12, flexDirection: 'row', alignItems: 'center', borderLeft: '4px solid #3D7BD9' }}&gt;&#10;        &lt;Box style={{ width: 80, alignItems: 'center' }}&gt;&#10;          &lt;Text style={{ fontSize: 13, color: '#0E3F8C', fontWeight: 'bold' }}&gt;后端开发&lt;/Text&gt;&#10;        &lt;/Box&gt;&#10;        &lt;Text style={{ fontSize: 13, color: '#1A2230', marginLeft: 16 }}&gt;业务服务 / Kafka 消费 / 存储读写&lt;/Text&gt;&#10;        &lt;Text style={{ fontSize: 12, color: '#8B97A8', marginLeft: 'auto' }}&gt;柴奥&lt;/Text&gt;&#10;      &lt;/Box&gt;&#10;&#10;      &lt;Box style={{ flex: 1, background: '#F7F9FC', borderRadius: 6, padding: 12, flexDirection: 'row', alignItems: 'center', borderLeft: '4px solid #3D7BD9' }}&gt;&#10;        &lt;Box style={{ width: 80, alignItems: 'center' }}&gt;&#10;          &lt;Text style={{ fontSize: 13, color: '#0E3F8C', fontWeight: 'bold' }}&gt;仿真与数据&lt;/Text&gt;&#10;        &lt;/Box&gt;&#10;        &lt;Text style={{ fontSize: 13, color: '#1A2230', marginLeft: 16 }}&gt;无人机/机器狗仿真 / 数据处理&lt;/Text&gt;&#10;        &lt;Text style={{ fontSize: 12, color: '#8B97A8', marginLeft: 'auto' }}&gt;谭宇杰&lt;/Text&gt;&#10;      &lt;/Box&gt;&#10;&#10;      &lt;Box style={{ flex: 1, background: '#F7F9FC', borderRadius: 6, padding: 12, flexDirection: 'row', alignItems: 'center', borderLeft: '4px solid #3D7BD9' }}&gt;&#10;        &lt;Box style={{ width: 80, alignItems: 'center' }}&gt;&#10;          &lt;Text style={{ fontSize: 13, color: '#0E3F8C', fontWeight: 'bold' }}&gt;前端可视化&lt;/Text&gt;&#10;        &lt;/Box&gt;&#10;        &lt;Text style={{ fontSize: 13, color: '#1A2230', marginLeft: 16 }}&gt;Web 界面 / 设备地图 / 告警可视化&lt;/Text&gt;&#10;        &lt;Text style={{ fontSize: 12, color: '#8B97A8', marginLeft: 'auto' }}&gt;曾鸿铭&lt;/Text&gt;&#10;      &lt;/Box&gt;&#10;&#10;      &lt;Box style={{ flex: 1, background: '#F7F9FC', borderRadius: 6, padding: 12, flexDirection: 'row', alignItems: 'center', borderLeft: '4px solid #3D7BD9' }}&gt;&#10;        &lt;Box style={{ width: 80, alignItems: 'center' }}&gt;&#10;          &lt;Text style={{ fontSize: 13, color: '#0E3F8C', fontWeight: 'bold' }}&gt;测试与文档&lt;/Text&gt;&#10;        &lt;/Box&gt;&#10;        &lt;Text style={{ fontSize: 13, color: '#1A2230', marginLeft: 16 }}&gt;测试用例 / 测试报告 / 文档汇总&lt;/Text&gt;&#10;        &lt;Text style={{ fontSize: 12, color: '#8B97A8', marginLeft: 'auto' }}&gt;王驰&lt;/Text&gt;&#10;      &lt;/Box&gt;&#10;    &lt;/Box&gt;&#10;  &lt;/Box&gt;&#10;&#10;  {/* 右侧完成度自评 + 展望 45% */}&#10;  &lt;Box style={{ position: 'absolute', top: 150, left: 730, width: 500, height: 460, flexDirection: 'column', gap: 14 }}&gt;&#10;&#10;    {/* 完成度自评 */}&#10;    &lt;Box style={{ background: '#0E3F8C', borderRadius: 8, padding: 16, flexDirection: 'column' }}&gt;&#10;      &lt;Text style={{ fontSize: 16, color: '#FFC107', fontWeight: 'bold', marginBottom: 8 }}&gt;完成度自评&lt;/Text&gt;&#10;      &lt;Box style={{ flexDirection: 'row', alignItems: 'center', gap: 6, marginBottom: 4 }}&gt;&#10;        &lt;Box style={{ width: 16, height: 16, borderRadius: 8, background: '#5BA854', alignItems: 'center', justifyContent: 'center' }}&gt;&#10;          &lt;Text style={{ fontSize: 10, color: '#FFFFFF' }}&gt;✓&lt;/Text&gt;&#10;        &lt;/Box&gt;&#10;        &lt;Text style={{ fontSize: 13, color: '#FFFFFF' }}&gt;核心业务闭环 100% 完成&lt;/Text&gt;&#10;      &lt;/Box&gt;&#10;      &lt;Text style={{ fontSize: 12, color: '#A8C0E0', lineHeight: 1.6, marginLeft: 22 }}&gt;&#10;        设备接入 / 数据流转 / 存储检索 / 告警处置 / 权限控制&#10;      &lt;/Text&gt;&#10;      &lt;Box style={{ flexDirection: 'row', alignItems: 'center', gap: 6, marginTop: 10, marginBottom: 4 }}&gt;&#10;        &lt;Box style={{ width: 16, height: 16, borderRadius: 8, background: '#FFC107', alignItems: 'center', justifyContent: 'center' }}&gt;&#10;          &lt;Text style={{ fontSize: 10, color: '#0E3F8C' }}&gt;!&lt;/Text&gt;&#10;        &lt;/Box&gt;&#10;        &lt;Text style={{ fontSize: 13, color: '#FFFFFF' }}&gt;诚实短板&lt;/Text&gt;&#10;      &lt;/Box&gt;&#10;      &lt;Text style={{ fontSize: 12, color: '#A8C0E0', lineHeight: 1.6, marginLeft: 22 }}&gt;&#10;        Kibana 仪表盘未配置；负载均衡已配未演示（仅 1 后端实例）&#10;      &lt;/Text&gt;&#10;    &lt;/Box&gt;&#10;&#10;    {/* 未来工作 */}&#10;    &lt;Box style={{ background: '#F7F9FC', borderRadius: 8, padding: 16, flexDirection: 'column', border: '1px solid #D6DCE5' }}&gt;&#10;      &lt;Text style={{ fontSize: 16, color: '#0E3F8C', fontWeight: 'bold', marginBottom: 10 }}&gt;三项改进方向&lt;/Text&gt;&#10;&#10;      &lt;Box style={{ flexDirection: 'row', alignItems: 'flex-start', gap: 8, marginBottom: 8 }}&gt;&#10;        &lt;Box style={{ width: 18, height: 18, borderRadius: 9, background: '#1E4FA8', alignItems: 'center', justifyContent: 'center', marginTop: 2 }}&gt;&#10;          &lt;Text style={{ fontSize: 10, color: '#FFFFFF', fontWeight: 'bold' }}&gt;1&lt;/Text&gt;&#10;        &lt;/Box&gt;&#10;        &lt;Text style={{ fontSize: 12, color: '#1A2230', lineHeight: 1.5, flex: 1 }}&gt;&#10;          &lt;span style={{ fontWeight: 'bold' }}&gt;Kibana 仪表盘：&lt;/span&gt;为告警与设备建标准索引模式 + 可视化图表&#10;        &lt;/Text&gt;&#10;      &lt;/Box&gt;&#10;&#10;      &lt;Box style={{ flexDirection: 'row', alignItems: 'flex-start', gap: 8, marginBottom: 8 }}&gt;&#10;        &lt;Box style={{ width: 18, height: 18, borderRadius: 9, background: '#1E4FA8', alignItems: 'center', justifyContent: 'center', marginTop: 2 }}&gt;&#10;          &lt;Text style={{ fontSize: 10, color: '#FFFFFF', fontWeight: 'bold' }}&gt;2&lt;/Text&gt;&#10;        &lt;/Box&gt;&#10;        &lt;Text style={{ fontSize: 12, color: '#1A2230', lineHeight: 1.5, flex: 1 }}&gt;&#10;          &lt;span style={{ fontWeight: 'bold' }}&gt;多实例负载均衡演示：&lt;/span&gt;起第 2 个 platform-service，观察 X-Upstream 轮询&#10;        &lt;/Text&gt;&#10;      &lt;/Box&gt;&#10;&#10;      &lt;Box style={{ flexDirection: 'row', alignItems: 'flex-start', gap: 8 }}&gt;&#10;        &lt;Box style={{ width: 18, height: 18, borderRadius: 9, background: '#1E4FA8', alignItems: 'center', justifyContent: 'center', marginTop: 2 }}&gt;&#10;          &lt;Text style={{ fontSize: 10, color: '#FFFFFF', fontWeight: 'bold' }}&gt;3&lt;/Text&gt;&#10;        &lt;/Box&gt;&#10;        &lt;Text style={{ fontSize: 12, color: '#1A2230', lineHeight: 1.5, flex: 1 }}&gt;&#10;          &lt;span style={{ fontWeight: 'bold' }}&gt;Kafka 分区扩容：&lt;/span&gt;默认 1 分区升到 3 分区，验证消费并行度提升&#10;        &lt;/Text&gt;&#10;      &lt;/Box&gt;&#10;    &lt;/Box&gt;&#10;&#10;  &lt;/Box&gt;&#10;&#10;  {/* 底部致谢条 */}&#10;  &lt;Box style={{ position: 'absolute', bottom: 25, left: 60, right: 60, height: 36, background: '#0E3F8C', borderRadius: 4, padding: '0 20', flexDirection: 'row', alignItems: 'center', justifyContent: 'space-between' }}&gt;&#10;    &lt;Text style={{ fontSize: 13, color: '#FFFFFF' }}&gt;&#10;      &lt;span style={{ fontWeight: 'bold', color: '#FFC107' }}&gt;★ 感谢聆听 · 欢迎提问&lt;/span&gt;  ·  WorkBuddy AI 协助制作 · 数据全部来自项目 README 与运行指南&#10;    &lt;/Text&gt;&#10;    &lt;Text style={{ fontSize: 12, color: '#A8C0E0' }}&gt;无人机-机器狗空地协同巡检答辩 · 2026&lt;/Text&gt;&#10;  &lt;/Box&gt;&#10;&#10;  {/* 页脚 */}&#10;  &lt;Text style={{ position: 'absolute', bottom: 6, right: 50, fontSize: 12, color: '#8B97A8' }}&gt;&#10;    15 / 15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矩形 1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4" name="矩形 17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571500" y="285750"/>
            <a:ext cx="24669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3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05 · </a:t>
            </a:r>
            <a:r>
              <a:rPr lang="zh-CN" sz="1350" b="1" spc="30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团队分工与总结展望</a:t>
            </a:r>
            <a:endParaRPr lang="zh-CN" sz="1350" b="1" spc="30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571500" y="552450"/>
            <a:ext cx="53911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团队分工</a:t>
            </a:r>
            <a:r>
              <a:rPr lang="en-US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完成度自评</a:t>
            </a:r>
            <a:r>
              <a:rPr lang="en-US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未来工作</a:t>
            </a:r>
            <a:endParaRPr lang="zh-CN" sz="27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矩形 176"/>
          <p:cNvSpPr/>
          <p:nvPr/>
        </p:nvSpPr>
        <p:spPr>
          <a:xfrm>
            <a:off x="571500" y="1066800"/>
            <a:ext cx="571500" cy="28575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178" name="矩形 177"/>
          <p:cNvSpPr/>
          <p:nvPr/>
        </p:nvSpPr>
        <p:spPr>
          <a:xfrm>
            <a:off x="476250" y="1514475"/>
            <a:ext cx="304800" cy="381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876300" y="1428750"/>
            <a:ext cx="1466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团队分工</a:t>
            </a: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 ·  6 </a:t>
            </a: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人组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514350" y="1771650"/>
            <a:ext cx="6286500" cy="609600"/>
          </a:xfrm>
          <a:prstGeom prst="roundRect">
            <a:avLst>
              <a:gd name="adj" fmla="val 9375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181" name="任意多边形 180"/>
          <p:cNvSpPr/>
          <p:nvPr/>
        </p:nvSpPr>
        <p:spPr>
          <a:xfrm>
            <a:off x="514350" y="1771650"/>
            <a:ext cx="6286500" cy="609600"/>
          </a:xfrm>
          <a:custGeom>
            <a:avLst/>
            <a:gdLst/>
            <a:ahLst/>
            <a:cxnLst/>
            <a:pathLst>
              <a:path w="660" h="64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62"/>
                </a:lnTo>
                <a:cubicBezTo>
                  <a:pt x="4" y="63"/>
                  <a:pt x="5" y="64"/>
                  <a:pt x="6" y="64"/>
                </a:cubicBezTo>
                <a:cubicBezTo>
                  <a:pt x="3" y="64"/>
                  <a:pt x="0" y="61"/>
                  <a:pt x="0" y="5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762000" y="20002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架构设计</a:t>
            </a:r>
            <a:endParaRPr lang="zh-CN" sz="9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1543050" y="2000250"/>
            <a:ext cx="1743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需求分析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总体架构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组件选型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6305550" y="2009775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陈明政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" name="圆角矩形 184"/>
          <p:cNvSpPr/>
          <p:nvPr/>
        </p:nvSpPr>
        <p:spPr>
          <a:xfrm>
            <a:off x="514350" y="2457450"/>
            <a:ext cx="6286500" cy="609600"/>
          </a:xfrm>
          <a:prstGeom prst="roundRect">
            <a:avLst>
              <a:gd name="adj" fmla="val 9375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186" name="任意多边形 185"/>
          <p:cNvSpPr/>
          <p:nvPr/>
        </p:nvSpPr>
        <p:spPr>
          <a:xfrm>
            <a:off x="514350" y="2457450"/>
            <a:ext cx="6286500" cy="609600"/>
          </a:xfrm>
          <a:custGeom>
            <a:avLst/>
            <a:gdLst/>
            <a:ahLst/>
            <a:cxnLst/>
            <a:pathLst>
              <a:path w="660" h="64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62"/>
                </a:lnTo>
                <a:cubicBezTo>
                  <a:pt x="4" y="63"/>
                  <a:pt x="5" y="64"/>
                  <a:pt x="6" y="64"/>
                </a:cubicBezTo>
                <a:cubicBezTo>
                  <a:pt x="3" y="64"/>
                  <a:pt x="0" y="61"/>
                  <a:pt x="0" y="5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704850" y="2686050"/>
            <a:ext cx="619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中间件运维</a:t>
            </a:r>
            <a:endParaRPr lang="zh-CN" sz="9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1543050" y="2686050"/>
            <a:ext cx="17240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类组件容器化部署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配置调优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6305550" y="2695575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侯琪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圆角矩形 189"/>
          <p:cNvSpPr/>
          <p:nvPr/>
        </p:nvSpPr>
        <p:spPr>
          <a:xfrm>
            <a:off x="514350" y="3143250"/>
            <a:ext cx="6286500" cy="609600"/>
          </a:xfrm>
          <a:prstGeom prst="roundRect">
            <a:avLst>
              <a:gd name="adj" fmla="val 9375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191" name="任意多边形 190"/>
          <p:cNvSpPr/>
          <p:nvPr/>
        </p:nvSpPr>
        <p:spPr>
          <a:xfrm>
            <a:off x="514350" y="3143250"/>
            <a:ext cx="6286500" cy="609600"/>
          </a:xfrm>
          <a:custGeom>
            <a:avLst/>
            <a:gdLst/>
            <a:ahLst/>
            <a:cxnLst/>
            <a:pathLst>
              <a:path w="660" h="64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62"/>
                </a:lnTo>
                <a:cubicBezTo>
                  <a:pt x="4" y="63"/>
                  <a:pt x="5" y="64"/>
                  <a:pt x="6" y="64"/>
                </a:cubicBezTo>
                <a:cubicBezTo>
                  <a:pt x="3" y="64"/>
                  <a:pt x="0" y="61"/>
                  <a:pt x="0" y="5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3D7BD9"/>
          </a:solidFill>
        </p:spPr>
        <p:txBody>
          <a:bodyPr/>
          <a:p/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762000" y="33718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后端开发</a:t>
            </a:r>
            <a:endParaRPr lang="zh-CN" sz="9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1543050" y="3371850"/>
            <a:ext cx="18573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业务服务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Kafka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消费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存储读写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6419850" y="3381375"/>
            <a:ext cx="228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柴奥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圆角矩形 194"/>
          <p:cNvSpPr/>
          <p:nvPr/>
        </p:nvSpPr>
        <p:spPr>
          <a:xfrm>
            <a:off x="514350" y="3829050"/>
            <a:ext cx="6286500" cy="609600"/>
          </a:xfrm>
          <a:prstGeom prst="roundRect">
            <a:avLst>
              <a:gd name="adj" fmla="val 9375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196" name="任意多边形 195"/>
          <p:cNvSpPr/>
          <p:nvPr/>
        </p:nvSpPr>
        <p:spPr>
          <a:xfrm>
            <a:off x="514350" y="3829050"/>
            <a:ext cx="6286500" cy="609600"/>
          </a:xfrm>
          <a:custGeom>
            <a:avLst/>
            <a:gdLst/>
            <a:ahLst/>
            <a:cxnLst/>
            <a:pathLst>
              <a:path w="660" h="64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62"/>
                </a:lnTo>
                <a:cubicBezTo>
                  <a:pt x="4" y="63"/>
                  <a:pt x="5" y="64"/>
                  <a:pt x="6" y="64"/>
                </a:cubicBezTo>
                <a:cubicBezTo>
                  <a:pt x="3" y="64"/>
                  <a:pt x="0" y="61"/>
                  <a:pt x="0" y="5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3D7BD9"/>
          </a:solidFill>
        </p:spPr>
        <p:txBody>
          <a:bodyPr/>
          <a:p/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704850" y="4057650"/>
            <a:ext cx="619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仿真与数据</a:t>
            </a:r>
            <a:endParaRPr lang="zh-CN" sz="9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1543050" y="4057650"/>
            <a:ext cx="16668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无人机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机器狗仿真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数据处理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6305550" y="4067175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谭宇杰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圆角矩形 199"/>
          <p:cNvSpPr/>
          <p:nvPr/>
        </p:nvSpPr>
        <p:spPr>
          <a:xfrm>
            <a:off x="514350" y="4514850"/>
            <a:ext cx="6286500" cy="609600"/>
          </a:xfrm>
          <a:prstGeom prst="roundRect">
            <a:avLst>
              <a:gd name="adj" fmla="val 9375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201" name="任意多边形 200"/>
          <p:cNvSpPr/>
          <p:nvPr/>
        </p:nvSpPr>
        <p:spPr>
          <a:xfrm>
            <a:off x="514350" y="4514850"/>
            <a:ext cx="6286500" cy="609600"/>
          </a:xfrm>
          <a:custGeom>
            <a:avLst/>
            <a:gdLst/>
            <a:ahLst/>
            <a:cxnLst/>
            <a:pathLst>
              <a:path w="660" h="64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62"/>
                </a:lnTo>
                <a:cubicBezTo>
                  <a:pt x="4" y="63"/>
                  <a:pt x="5" y="64"/>
                  <a:pt x="6" y="64"/>
                </a:cubicBezTo>
                <a:cubicBezTo>
                  <a:pt x="3" y="64"/>
                  <a:pt x="0" y="61"/>
                  <a:pt x="0" y="5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3D7BD9"/>
          </a:solidFill>
        </p:spPr>
        <p:txBody>
          <a:bodyPr/>
          <a:p/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704850" y="4743450"/>
            <a:ext cx="619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前端可视化</a:t>
            </a:r>
            <a:endParaRPr lang="zh-CN" sz="9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1543050" y="4743450"/>
            <a:ext cx="19240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Web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界面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设备地图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告警可视化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6305550" y="4752975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曾鸿铭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圆角矩形 204"/>
          <p:cNvSpPr/>
          <p:nvPr/>
        </p:nvSpPr>
        <p:spPr>
          <a:xfrm>
            <a:off x="514350" y="5200650"/>
            <a:ext cx="6286500" cy="609600"/>
          </a:xfrm>
          <a:prstGeom prst="roundRect">
            <a:avLst>
              <a:gd name="adj" fmla="val 9375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206" name="任意多边形 205"/>
          <p:cNvSpPr/>
          <p:nvPr/>
        </p:nvSpPr>
        <p:spPr>
          <a:xfrm>
            <a:off x="514350" y="5200650"/>
            <a:ext cx="6286500" cy="609600"/>
          </a:xfrm>
          <a:custGeom>
            <a:avLst/>
            <a:gdLst/>
            <a:ahLst/>
            <a:cxnLst/>
            <a:pathLst>
              <a:path w="660" h="64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62"/>
                </a:lnTo>
                <a:cubicBezTo>
                  <a:pt x="4" y="63"/>
                  <a:pt x="5" y="64"/>
                  <a:pt x="6" y="64"/>
                </a:cubicBezTo>
                <a:cubicBezTo>
                  <a:pt x="3" y="64"/>
                  <a:pt x="0" y="61"/>
                  <a:pt x="0" y="5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3D7BD9"/>
          </a:solidFill>
        </p:spPr>
        <p:txBody>
          <a:bodyPr/>
          <a:p/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704850" y="5429250"/>
            <a:ext cx="619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测试与文档</a:t>
            </a:r>
            <a:endParaRPr lang="zh-CN" sz="9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1543050" y="5429250"/>
            <a:ext cx="1743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测试用例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测试报告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文档汇总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6419850" y="5438775"/>
            <a:ext cx="228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王驰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圆角矩形 209"/>
          <p:cNvSpPr/>
          <p:nvPr/>
        </p:nvSpPr>
        <p:spPr>
          <a:xfrm>
            <a:off x="6953250" y="1428750"/>
            <a:ext cx="4762500" cy="1504950"/>
          </a:xfrm>
          <a:prstGeom prst="roundRect">
            <a:avLst>
              <a:gd name="adj" fmla="val 5063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7105650" y="1581150"/>
            <a:ext cx="4457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完成度自评</a:t>
            </a:r>
            <a:endParaRPr lang="zh-CN" sz="1200" b="1">
              <a:solidFill>
                <a:srgbClr val="FFC10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圆角矩形 211"/>
          <p:cNvSpPr/>
          <p:nvPr/>
        </p:nvSpPr>
        <p:spPr>
          <a:xfrm>
            <a:off x="7105650" y="18478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5BA854"/>
          </a:solidFill>
        </p:spPr>
        <p:txBody>
          <a:bodyPr/>
          <a:p/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7134225" y="1866900"/>
            <a:ext cx="952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7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7315200" y="1847850"/>
            <a:ext cx="14001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核心业务闭环</a:t>
            </a:r>
            <a:r>
              <a:rPr lang="en-US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100% </a:t>
            </a: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完成</a:t>
            </a:r>
            <a:endParaRPr lang="zh-CN" sz="9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7315200" y="2038350"/>
            <a:ext cx="4248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设备接入</a:t>
            </a:r>
            <a:r>
              <a:rPr lang="en-US" sz="9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数据流转</a:t>
            </a:r>
            <a:r>
              <a:rPr lang="en-US" sz="9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存储检索</a:t>
            </a:r>
            <a:r>
              <a:rPr lang="en-US" sz="9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告警处置</a:t>
            </a:r>
            <a:r>
              <a:rPr lang="en-US" sz="9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权限控制</a:t>
            </a:r>
            <a:endParaRPr lang="zh-CN" sz="900">
              <a:solidFill>
                <a:srgbClr val="A8C0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" name="圆角矩形 215"/>
          <p:cNvSpPr/>
          <p:nvPr/>
        </p:nvSpPr>
        <p:spPr>
          <a:xfrm>
            <a:off x="7105650" y="23622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FC107"/>
          </a:solidFill>
        </p:spPr>
        <p:txBody>
          <a:bodyPr/>
          <a:p/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7162800" y="2381250"/>
            <a:ext cx="3810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!</a:t>
            </a:r>
            <a:endParaRPr lang="en-US" sz="75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7315200" y="236220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不足</a:t>
            </a:r>
            <a:endParaRPr lang="zh-CN" sz="9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7315200" y="2552700"/>
            <a:ext cx="4248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Kibana </a:t>
            </a:r>
            <a:r>
              <a:rPr lang="zh-CN" sz="9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仪表盘未配置；负载均衡已配未演示（仅</a:t>
            </a:r>
            <a:r>
              <a:rPr lang="en-US" sz="9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后端实例）</a:t>
            </a:r>
            <a:endParaRPr lang="zh-CN" sz="900">
              <a:solidFill>
                <a:srgbClr val="A8C0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" name="圆角矩形 219"/>
          <p:cNvSpPr/>
          <p:nvPr/>
        </p:nvSpPr>
        <p:spPr>
          <a:xfrm>
            <a:off x="6953250" y="3067050"/>
            <a:ext cx="4762500" cy="1371600"/>
          </a:xfrm>
          <a:prstGeom prst="roundRect">
            <a:avLst>
              <a:gd name="adj" fmla="val 555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7105650" y="3219450"/>
            <a:ext cx="4457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三项改进方向</a:t>
            </a:r>
            <a:endParaRPr lang="zh-CN" sz="1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圆角矩形 221"/>
          <p:cNvSpPr/>
          <p:nvPr/>
        </p:nvSpPr>
        <p:spPr>
          <a:xfrm>
            <a:off x="7105650" y="35242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7162800" y="3552825"/>
            <a:ext cx="66675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7353300" y="3505200"/>
            <a:ext cx="42100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Kibana </a:t>
            </a:r>
            <a:r>
              <a:rPr lang="zh-CN" sz="9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仪表盘：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为告警与设备建标准索引模式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可视化图表</a:t>
            </a:r>
            <a:endParaRPr lang="zh-CN" sz="9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圆角矩形 224"/>
          <p:cNvSpPr/>
          <p:nvPr/>
        </p:nvSpPr>
        <p:spPr>
          <a:xfrm>
            <a:off x="7105650" y="38100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7162800" y="3838575"/>
            <a:ext cx="66675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7353300" y="3790950"/>
            <a:ext cx="42100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多实例负载均衡演示：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起第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platform-service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，观察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X-Upstream 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轮询</a:t>
            </a:r>
            <a:endParaRPr lang="zh-CN" sz="9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" name="圆角矩形 227"/>
          <p:cNvSpPr/>
          <p:nvPr/>
        </p:nvSpPr>
        <p:spPr>
          <a:xfrm>
            <a:off x="7105650" y="40957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7162800" y="4124325"/>
            <a:ext cx="66675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7353300" y="4076700"/>
            <a:ext cx="42100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Kafka </a:t>
            </a:r>
            <a:r>
              <a:rPr lang="zh-CN" sz="9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分区扩容：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分区升到</a:t>
            </a:r>
            <a:r>
              <a:rPr lang="en-US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分区，验证消费并行度提升</a:t>
            </a:r>
            <a:endParaRPr lang="zh-CN" sz="9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" name="圆角矩形 230"/>
          <p:cNvSpPr/>
          <p:nvPr/>
        </p:nvSpPr>
        <p:spPr>
          <a:xfrm>
            <a:off x="571500" y="6276975"/>
            <a:ext cx="11049000" cy="342900"/>
          </a:xfrm>
          <a:prstGeom prst="roundRect">
            <a:avLst>
              <a:gd name="adj" fmla="val 11111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762000" y="6372225"/>
            <a:ext cx="5133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★ </a:t>
            </a:r>
            <a:r>
              <a:rPr lang="zh-CN" sz="975" b="1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感谢聆听</a:t>
            </a:r>
            <a:r>
              <a:rPr lang="en-US" sz="975" b="1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b="1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欢迎提问</a:t>
            </a:r>
            <a:r>
              <a:rPr lang="en-US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·  WorkBuddy AI </a:t>
            </a: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协助制作</a:t>
            </a:r>
            <a:r>
              <a:rPr lang="en-US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数据全部来自项目</a:t>
            </a:r>
            <a:r>
              <a:rPr lang="en-US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README </a:t>
            </a: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与运行指南</a:t>
            </a:r>
            <a:endParaRPr lang="zh-CN" sz="9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9410700" y="6381750"/>
            <a:ext cx="2019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无人机</a:t>
            </a:r>
            <a:r>
              <a:rPr lang="en-US" sz="9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sz="9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机器狗空地协同巡检答辩</a:t>
            </a:r>
            <a:r>
              <a:rPr lang="en-US" sz="900">
                <a:solidFill>
                  <a:srgbClr val="A8C0E0"/>
                </a:solidFill>
                <a:latin typeface="微软雅黑" panose="020B0503020204020204" charset="-122"/>
                <a:ea typeface="微软雅黑" panose="020B0503020204020204" charset="-122"/>
              </a:rPr>
              <a:t> · 2026</a:t>
            </a:r>
            <a:endParaRPr lang="en-US" sz="900">
              <a:solidFill>
                <a:srgbClr val="A8C0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11325225" y="6657975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15 / 15</a:t>
            </a:r>
            <a:endParaRPr lang="en-US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b02c873f8cf46c7a63aee859049cf77263cd36a"/>
  <p:tag name="KSO_WM_NEWLAYOUT_ID" val="slide_21d876bcd5574aba"/>
</p:tagLst>
</file>

<file path=ppt/tags/tag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b02c873f8cf46c7a63aee859049cf77263cd36a"/>
  <p:tag name="KSO_WM_NEWLAYOUT_ID" val="slide_21d876bcd5574aba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SLIDE_ID" val="slide_21d876bcd5574aba"/>
</p:tagLst>
</file>

<file path=ppt/tags/tag16.xml><?xml version="1.0" encoding="utf-8"?>
<p:tagLst xmlns:p="http://schemas.openxmlformats.org/presentationml/2006/main">
  <p:tag name="KSO_WM_DIAGRAM_VIRTUALLY_FRAME" val="{&quot;height&quot;:256.5,&quot;left&quot;:610.5,&quot;top&quot;:130.5,&quot;width&quot;:315}"/>
</p:tagLst>
</file>

<file path=ppt/tags/tag17.xml><?xml version="1.0" encoding="utf-8"?>
<p:tagLst xmlns:p="http://schemas.openxmlformats.org/presentationml/2006/main">
  <p:tag name="KSO_WM_DIAGRAM_VIRTUALLY_FRAME" val="{&quot;height&quot;:256.5,&quot;left&quot;:610.5,&quot;top&quot;:130.5,&quot;width&quot;:315}"/>
</p:tagLst>
</file>

<file path=ppt/tags/tag18.xml><?xml version="1.0" encoding="utf-8"?>
<p:tagLst xmlns:p="http://schemas.openxmlformats.org/presentationml/2006/main">
  <p:tag name="KSO_WM_DIAGRAM_VIRTUALLY_FRAME" val="{&quot;height&quot;:256.5,&quot;left&quot;:610.5,&quot;top&quot;:130.5,&quot;width&quot;:315}"/>
</p:tagLst>
</file>

<file path=ppt/tags/tag19.xml><?xml version="1.0" encoding="utf-8"?>
<p:tagLst xmlns:p="http://schemas.openxmlformats.org/presentationml/2006/main">
  <p:tag name="KSO_WM_DIAGRAM_VIRTUALLY_FRAME" val="{&quot;height&quot;:256.5,&quot;left&quot;:610.5,&quot;top&quot;:130.5,&quot;width&quot;:315}"/>
</p:tagLst>
</file>

<file path=ppt/tags/tag20.xml><?xml version="1.0" encoding="utf-8"?>
<p:tagLst xmlns:p="http://schemas.openxmlformats.org/presentationml/2006/main">
  <p:tag name="KSO_WM_DIAGRAM_VIRTUALLY_FRAME" val="{&quot;height&quot;:256.5,&quot;left&quot;:610.5,&quot;top&quot;:130.5,&quot;width&quot;:315}"/>
</p:tagLst>
</file>

<file path=ppt/tags/tag21.xml><?xml version="1.0" encoding="utf-8"?>
<p:tagLst xmlns:p="http://schemas.openxmlformats.org/presentationml/2006/main">
  <p:tag name="KSO_WM_DIAGRAM_VIRTUALLY_FRAME" val="{&quot;height&quot;:256.5,&quot;left&quot;:610.5,&quot;top&quot;:130.5,&quot;width&quot;:315}"/>
</p:tagLst>
</file>

<file path=ppt/tags/tag22.xml><?xml version="1.0" encoding="utf-8"?>
<p:tagLst xmlns:p="http://schemas.openxmlformats.org/presentationml/2006/main">
  <p:tag name="KSO_WM_DIAGRAM_VIRTUALLY_FRAME" val="{&quot;height&quot;:256.5,&quot;left&quot;:610.5,&quot;top&quot;:130.5,&quot;width&quot;:315}"/>
</p:tagLst>
</file>

<file path=ppt/tags/tag23.xml><?xml version="1.0" encoding="utf-8"?>
<p:tagLst xmlns:p="http://schemas.openxmlformats.org/presentationml/2006/main">
  <p:tag name="KSO_WM_DIAGRAM_VIRTUALLY_FRAME" val="{&quot;height&quot;:256.5,&quot;left&quot;:610.5,&quot;top&quot;:130.5,&quot;width&quot;:315}"/>
</p:tagLst>
</file>

<file path=ppt/tags/tag24.xml><?xml version="1.0" encoding="utf-8"?>
<p:tagLst xmlns:p="http://schemas.openxmlformats.org/presentationml/2006/main">
  <p:tag name="KSO_WM_DIAGRAM_VIRTUALLY_FRAME" val="{&quot;height&quot;:256.5,&quot;left&quot;:610.5,&quot;top&quot;:130.5,&quot;width&quot;:315}"/>
</p:tagLst>
</file>

<file path=ppt/tags/tag25.xml><?xml version="1.0" encoding="utf-8"?>
<p:tagLst xmlns:p="http://schemas.openxmlformats.org/presentationml/2006/main">
  <p:tag name="KSO_WM_DIAGRAM_VIRTUALLY_FRAME" val="{&quot;height&quot;:256.5,&quot;left&quot;:610.5,&quot;top&quot;:130.5,&quot;width&quot;:315}"/>
</p:tagLst>
</file>

<file path=ppt/tags/tag26.xml><?xml version="1.0" encoding="utf-8"?>
<p:tagLst xmlns:p="http://schemas.openxmlformats.org/presentationml/2006/main">
  <p:tag name="KSO_WM_DIAGRAM_VIRTUALLY_FRAME" val="{&quot;height&quot;:256.5,&quot;left&quot;:610.5,&quot;top&quot;:130.5,&quot;width&quot;:315}"/>
</p:tagLst>
</file>

<file path=ppt/tags/tag27.xml><?xml version="1.0" encoding="utf-8"?>
<p:tagLst xmlns:p="http://schemas.openxmlformats.org/presentationml/2006/main">
  <p:tag name="KSO_WM_DIAGRAM_VIRTUALLY_FRAME" val="{&quot;height&quot;:256.5,&quot;left&quot;:610.5,&quot;top&quot;:130.5,&quot;width&quot;:315}"/>
</p:tagLst>
</file>

<file path=ppt/tags/tag28.xml><?xml version="1.0" encoding="utf-8"?>
<p:tagLst xmlns:p="http://schemas.openxmlformats.org/presentationml/2006/main">
  <p:tag name="KSO_WM_DIAGRAM_VIRTUALLY_FRAME" val="{&quot;height&quot;:256.5,&quot;left&quot;:610.5,&quot;top&quot;:130.5,&quot;width&quot;:315}"/>
</p:tagLst>
</file>

<file path=ppt/tags/tag29.xml><?xml version="1.0" encoding="utf-8"?>
<p:tagLst xmlns:p="http://schemas.openxmlformats.org/presentationml/2006/main">
  <p:tag name="KSO_WM_DIAGRAM_VIRTUALLY_FRAME" val="{&quot;height&quot;:256.5,&quot;left&quot;:610.5,&quot;top&quot;:130.5,&quot;width&quot;:315}"/>
</p:tagLst>
</file>

<file path=ppt/tags/tag30.xml><?xml version="1.0" encoding="utf-8"?>
<p:tagLst xmlns:p="http://schemas.openxmlformats.org/presentationml/2006/main">
  <p:tag name="KSO_WM_DIAGRAM_VIRTUALLY_FRAME" val="{&quot;height&quot;:256.5,&quot;left&quot;:610.5,&quot;top&quot;:130.5,&quot;width&quot;:315}"/>
</p:tagLst>
</file>

<file path=ppt/tags/tag31.xml><?xml version="1.0" encoding="utf-8"?>
<p:tagLst xmlns:p="http://schemas.openxmlformats.org/presentationml/2006/main">
  <p:tag name="KSO_WM_DIAGRAM_VIRTUALLY_FRAME" val="{&quot;height&quot;:256.5,&quot;left&quot;:610.5,&quot;top&quot;:130.5,&quot;width&quot;:31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4573</Words>
  <Application>WPS 演示</Application>
  <PresentationFormat/>
  <Paragraphs>562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Times New Roman</vt:lpstr>
      <vt:lpstr>Calibri</vt:lpstr>
      <vt:lpstr>Arial Unicode MS</vt:lpstr>
      <vt:lpstr>等线</vt:lpstr>
      <vt:lpstr>Calibri Light</vt:lpstr>
      <vt:lpstr>等线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慕</cp:lastModifiedBy>
  <cp:revision>2</cp:revision>
  <dcterms:created xsi:type="dcterms:W3CDTF">2026-09-24T00:46:16Z</dcterms:created>
  <dcterms:modified xsi:type="dcterms:W3CDTF">2026-09-24T01:32:30Z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ED5B34B8FA13474A8A3EFB6B8617BDA4_12</vt:lpwstr>
  </property>
</Properties>
</file>